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14.xml" ContentType="application/vnd.openxmlformats-officedocument.presentationml.slideLayout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viewProps.xml" ContentType="application/vnd.openxmlformats-officedocument.presentationml.viewProps+xml"/>
  <Override PartName="/ppt/slides/slide6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charts/colors3.xml" ContentType="application/vnd.ms-office.chartcolorstyle+xml"/>
  <Override PartName="/ppt/charts/style3.xml" ContentType="application/vnd.ms-office.chartstyle+xml"/>
  <Override PartName="/ppt/tableStyles.xml" ContentType="application/vnd.openxmlformats-officedocument.presentationml.tableStyles+xml"/>
  <Override PartName="/ppt/slides/slide9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charts/colors2.xml" ContentType="application/vnd.ms-office.chartcolorstyle+xml"/>
  <Override PartName="/ppt/charts/style2.xml" ContentType="application/vnd.ms-office.chartstyle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61" r:id="rId2"/>
    <p:sldId id="258" r:id="rId3"/>
    <p:sldId id="259" r:id="rId4"/>
    <p:sldId id="260" r:id="rId5"/>
    <p:sldId id="273" r:id="rId6"/>
    <p:sldId id="264" r:id="rId7"/>
    <p:sldId id="256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94658"/>
  </p:normalViewPr>
  <p:slideViewPr>
    <p:cSldViewPr snapToGrid="0">
      <p:cViewPr varScale="1">
        <p:scale>
          <a:sx n="120" d="100"/>
          <a:sy n="120" d="100"/>
        </p:scale>
        <p:origin x="5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7.xml" Id="rId8" /><Relationship Type="http://schemas.openxmlformats.org/officeDocument/2006/relationships/slide" Target="/ppt/slides/slide12.xml" Id="rId13" /><Relationship Type="http://schemas.openxmlformats.org/officeDocument/2006/relationships/slide" Target="/ppt/slides/slide17.xml" Id="rId18" /><Relationship Type="http://schemas.openxmlformats.org/officeDocument/2006/relationships/slide" Target="/ppt/slides/slide2.xml" Id="rId3" /><Relationship Type="http://schemas.openxmlformats.org/officeDocument/2006/relationships/viewProps" Target="/ppt/viewProps.xml" Id="rId21" /><Relationship Type="http://schemas.openxmlformats.org/officeDocument/2006/relationships/slide" Target="/ppt/slides/slide6.xml" Id="rId7" /><Relationship Type="http://schemas.openxmlformats.org/officeDocument/2006/relationships/slide" Target="/ppt/slides/slide11.xml" Id="rId12" /><Relationship Type="http://schemas.openxmlformats.org/officeDocument/2006/relationships/slide" Target="/ppt/slides/slide16.xml" Id="rId17" /><Relationship Type="http://schemas.openxmlformats.org/officeDocument/2006/relationships/slide" Target="/ppt/slides/slide1.xml" Id="rId2" /><Relationship Type="http://schemas.openxmlformats.org/officeDocument/2006/relationships/slide" Target="/ppt/slides/slide15.xml" Id="rId16" /><Relationship Type="http://schemas.openxmlformats.org/officeDocument/2006/relationships/presProps" Target="/ppt/presProps.xml" Id="rId20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6" /><Relationship Type="http://schemas.openxmlformats.org/officeDocument/2006/relationships/slide" Target="/ppt/slides/slide10.xml" Id="rId11" /><Relationship Type="http://schemas.openxmlformats.org/officeDocument/2006/relationships/slide" Target="/ppt/slides/slide4.xml" Id="rId5" /><Relationship Type="http://schemas.openxmlformats.org/officeDocument/2006/relationships/slide" Target="/ppt/slides/slide14.xml" Id="rId15" /><Relationship Type="http://schemas.openxmlformats.org/officeDocument/2006/relationships/tableStyles" Target="/ppt/tableStyles.xml" Id="rId23" /><Relationship Type="http://schemas.openxmlformats.org/officeDocument/2006/relationships/slide" Target="/ppt/slides/slide9.xml" Id="rId10" /><Relationship Type="http://schemas.openxmlformats.org/officeDocument/2006/relationships/notesMaster" Target="/ppt/notesMasters/notesMaster1.xml" Id="rId19" /><Relationship Type="http://schemas.openxmlformats.org/officeDocument/2006/relationships/slide" Target="/ppt/slides/slide3.xml" Id="rId4" /><Relationship Type="http://schemas.openxmlformats.org/officeDocument/2006/relationships/slide" Target="/ppt/slides/slide8.xml" Id="rId9" /><Relationship Type="http://schemas.openxmlformats.org/officeDocument/2006/relationships/slide" Target="/ppt/slides/slide13.xml" Id="rId14" /><Relationship Type="http://schemas.openxmlformats.org/officeDocument/2006/relationships/theme" Target="/ppt/theme/theme1.xml" Id="rId22" /></Relationships>
</file>

<file path=ppt/charts/_rels/chart1.xml.rels>&#65279;<?xml version="1.0" encoding="utf-8"?><Relationships xmlns="http://schemas.openxmlformats.org/package/2006/relationships"><Relationship Type="http://schemas.microsoft.com/office/2011/relationships/chartColorStyle" Target="/ppt/charts/colors1.xml" Id="rId2" /><Relationship Type="http://schemas.microsoft.com/office/2011/relationships/chartStyle" Target="/ppt/charts/style1.xml" Id="rId1" /><Relationship Type="http://schemas.openxmlformats.org/officeDocument/2006/relationships/oleObject" Target="file:////Users/alfi/Downloads/Mini%20Project.xlsx" TargetMode="External" Id="rId3" /></Relationships>
</file>

<file path=ppt/charts/_rels/chart2.xml.rels>&#65279;<?xml version="1.0" encoding="utf-8"?><Relationships xmlns="http://schemas.openxmlformats.org/package/2006/relationships"><Relationship Type="http://schemas.microsoft.com/office/2011/relationships/chartColorStyle" Target="/ppt/charts/colors2.xml" Id="rId2" /><Relationship Type="http://schemas.microsoft.com/office/2011/relationships/chartStyle" Target="/ppt/charts/style2.xml" Id="rId1" /><Relationship Type="http://schemas.openxmlformats.org/officeDocument/2006/relationships/oleObject" Target="file:////Users/alfi/Downloads/Mini%20Project.xlsx" TargetMode="External" Id="rId3" /></Relationships>
</file>

<file path=ppt/charts/_rels/chart3.xml.rels>&#65279;<?xml version="1.0" encoding="utf-8"?><Relationships xmlns="http://schemas.openxmlformats.org/package/2006/relationships"><Relationship Type="http://schemas.microsoft.com/office/2011/relationships/chartColorStyle" Target="/ppt/charts/colors3.xml" Id="rId2" /><Relationship Type="http://schemas.microsoft.com/office/2011/relationships/chartStyle" Target="/ppt/charts/style3.xml" Id="rId1" /><Relationship Type="http://schemas.openxmlformats.org/officeDocument/2006/relationships/oleObject" Target="file:////Users/alfi/Downloads/Mini%20Project.xlsx" TargetMode="External" Id="rId3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[Mini Project.xlsx]PivotTable!PivotTable10</c:name>
    <c:fmtId val="12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circle"/>
          <c:size val="6"/>
          <c:spPr>
            <a:solidFill>
              <a:schemeClr val="accent6">
                <a:alpha val="85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PivotTable!$G$33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PivotTable!$F$34:$F$40</c:f>
              <c:strCache>
                <c:ptCount val="6"/>
                <c:pt idx="0">
                  <c:v>Production       </c:v>
                </c:pt>
                <c:pt idx="1">
                  <c:v>IT/IS</c:v>
                </c:pt>
                <c:pt idx="2">
                  <c:v>Sales</c:v>
                </c:pt>
                <c:pt idx="3">
                  <c:v>Software Engineering</c:v>
                </c:pt>
                <c:pt idx="4">
                  <c:v>Admin Offices</c:v>
                </c:pt>
                <c:pt idx="5">
                  <c:v>Executive Office</c:v>
                </c:pt>
              </c:strCache>
            </c:strRef>
          </c:cat>
          <c:val>
            <c:numRef>
              <c:f>PivotTable!$G$34:$G$40</c:f>
              <c:numCache>
                <c:formatCode>General</c:formatCode>
                <c:ptCount val="6"/>
                <c:pt idx="0">
                  <c:v>1014</c:v>
                </c:pt>
                <c:pt idx="1">
                  <c:v>224</c:v>
                </c:pt>
                <c:pt idx="2">
                  <c:v>164</c:v>
                </c:pt>
                <c:pt idx="3">
                  <c:v>64</c:v>
                </c:pt>
                <c:pt idx="4">
                  <c:v>48</c:v>
                </c:pt>
                <c:pt idx="5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D5-6A4F-9FFB-D954E369E7B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625937024"/>
        <c:axId val="625934784"/>
      </c:barChart>
      <c:catAx>
        <c:axId val="625937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5934784"/>
        <c:crosses val="autoZero"/>
        <c:auto val="1"/>
        <c:lblAlgn val="ctr"/>
        <c:lblOffset val="100"/>
        <c:noMultiLvlLbl val="0"/>
      </c:catAx>
      <c:valAx>
        <c:axId val="62593478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rgbClr val="00B050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25937024"/>
        <c:crosses val="autoZero"/>
        <c:crossBetween val="between"/>
      </c:valAx>
      <c:spPr>
        <a:pattFill prst="pct5">
          <a:fgClr>
            <a:schemeClr val="accent6"/>
          </a:fgClr>
          <a:bgClr>
            <a:schemeClr val="bg1"/>
          </a:bgClr>
        </a:pattFill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[Mini Project.xlsx]PivotTable!PivotTable5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Tipe karyawan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marker>
          <c:symbol val="circle"/>
          <c:size val="6"/>
        </c:marke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marker>
          <c:symbol val="circle"/>
          <c:size val="6"/>
        </c:marke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3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2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2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4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3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3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5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6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2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2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7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3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3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8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2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>
              <a:alpha val="9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>
              <a:alpha val="9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>
              <a:alpha val="9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6">
              <a:lumMod val="60000"/>
              <a:lumOff val="40000"/>
              <a:alpha val="9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>
              <a:alpha val="9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2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>
              <a:alpha val="9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>
              <a:alpha val="9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>
              <a:alpha val="9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>
              <a:alpha val="9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>
              <a:alpha val="9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>
              <a:alpha val="9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6">
              <a:lumMod val="60000"/>
              <a:lumOff val="40000"/>
              <a:alpha val="9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>
              <a:alpha val="9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2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>
              <a:alpha val="9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>
              <a:alpha val="9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>
              <a:alpha val="9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>
              <a:alpha val="9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>
              <a:alpha val="9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>
              <a:alpha val="9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6">
              <a:lumMod val="60000"/>
              <a:lumOff val="40000"/>
              <a:alpha val="9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>
              <a:alpha val="9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2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>
              <a:alpha val="9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>
              <a:alpha val="9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>
              <a:alpha val="9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PivotTable!$M$15</c:f>
              <c:strCache>
                <c:ptCount val="1"/>
                <c:pt idx="0">
                  <c:v>Count of StartDate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alpha val="90000"/>
                </a:schemeClr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  <a:effectLst>
                <a:innerShdw blurRad="114300">
                  <a:schemeClr val="accent1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1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5D9-E44B-AA72-486EB05C292E}"/>
              </c:ext>
            </c:extLst>
          </c:dPt>
          <c:dPt>
            <c:idx val="1"/>
            <c:bubble3D val="0"/>
            <c:spPr>
              <a:solidFill>
                <a:schemeClr val="accent3">
                  <a:alpha val="90000"/>
                </a:schemeClr>
              </a:solidFill>
              <a:ln w="19050">
                <a:solidFill>
                  <a:schemeClr val="accent3">
                    <a:lumMod val="75000"/>
                  </a:schemeClr>
                </a:solidFill>
              </a:ln>
              <a:effectLst>
                <a:innerShdw blurRad="114300">
                  <a:schemeClr val="accent3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3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5D9-E44B-AA72-486EB05C292E}"/>
              </c:ext>
            </c:extLst>
          </c:dPt>
          <c:dPt>
            <c:idx val="2"/>
            <c:bubble3D val="0"/>
            <c:spPr>
              <a:solidFill>
                <a:schemeClr val="accent6">
                  <a:lumMod val="60000"/>
                  <a:lumOff val="40000"/>
                  <a:alpha val="90000"/>
                </a:schemeClr>
              </a:solidFill>
              <a:ln w="19050">
                <a:solidFill>
                  <a:schemeClr val="accent5">
                    <a:lumMod val="75000"/>
                  </a:schemeClr>
                </a:solidFill>
              </a:ln>
              <a:effectLst>
                <a:innerShdw blurRad="114300">
                  <a:schemeClr val="accent5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5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65D9-E44B-AA72-486EB05C292E}"/>
              </c:ext>
            </c:extLst>
          </c:dPt>
          <c:dLbls>
            <c:dLbl>
              <c:idx val="0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1"/>
                  </a:solidFill>
                  <a:round/>
                </a:ln>
                <a:effectLst>
                  <a:outerShdw blurRad="50800" dist="381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accent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65D9-E44B-AA72-486EB05C292E}"/>
                </c:ext>
              </c:extLst>
            </c:dLbl>
            <c:dLbl>
              <c:idx val="1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3"/>
                  </a:solidFill>
                  <a:round/>
                </a:ln>
                <a:effectLst>
                  <a:outerShdw blurRad="50800" dist="38100" dir="2700000" algn="tl" rotWithShape="0">
                    <a:schemeClr val="accent3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accent3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65D9-E44B-AA72-486EB05C292E}"/>
                </c:ext>
              </c:extLst>
            </c:dLbl>
            <c:dLbl>
              <c:idx val="2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5"/>
                  </a:solidFill>
                  <a:round/>
                </a:ln>
                <a:effectLst>
                  <a:outerShdw blurRad="50800" dist="38100" dir="2700000" algn="tl" rotWithShape="0">
                    <a:schemeClr val="accent5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accent5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65D9-E44B-AA72-486EB05C292E}"/>
                </c:ext>
              </c:extLst>
            </c:dLbl>
            <c:spPr>
              <a:solidFill>
                <a:prstClr val="white">
                  <a:alpha val="90000"/>
                </a:prstClr>
              </a:solidFill>
              <a:ln w="12700" cap="flat" cmpd="sng" algn="ctr">
                <a:solidFill>
                  <a:srgbClr val="156082"/>
                </a:solidFill>
                <a:round/>
              </a:ln>
              <a:effectLst>
                <a:outerShdw blurRad="50800" dist="38100" dir="2700000" algn="tl" rotWithShape="0">
                  <a:srgbClr val="156082">
                    <a:lumMod val="75000"/>
                    <a:alpha val="40000"/>
                  </a:srgb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accent1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PivotTable!$L$16:$L$19</c:f>
              <c:strCache>
                <c:ptCount val="3"/>
                <c:pt idx="0">
                  <c:v>Full-Time</c:v>
                </c:pt>
                <c:pt idx="1">
                  <c:v>Contract</c:v>
                </c:pt>
                <c:pt idx="2">
                  <c:v>Part-Time</c:v>
                </c:pt>
              </c:strCache>
            </c:strRef>
          </c:cat>
          <c:val>
            <c:numRef>
              <c:f>PivotTable!$M$16:$M$19</c:f>
              <c:numCache>
                <c:formatCode>General</c:formatCode>
                <c:ptCount val="3"/>
                <c:pt idx="0">
                  <c:v>1038</c:v>
                </c:pt>
                <c:pt idx="1">
                  <c:v>1008</c:v>
                </c:pt>
                <c:pt idx="2">
                  <c:v>954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5D9-E44B-AA72-486EB05C292E}"/>
            </c:ext>
          </c:extLst>
        </c:ser>
        <c:ser>
          <c:idx val="1"/>
          <c:order val="1"/>
          <c:tx>
            <c:strRef>
              <c:f>PivotTable!$N$15</c:f>
              <c:strCache>
                <c:ptCount val="1"/>
                <c:pt idx="0">
                  <c:v>Count of ExitDate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alpha val="90000"/>
                </a:schemeClr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  <a:effectLst>
                <a:innerShdw blurRad="114300">
                  <a:schemeClr val="accent1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1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8-65D9-E44B-AA72-486EB05C292E}"/>
              </c:ext>
            </c:extLst>
          </c:dPt>
          <c:dPt>
            <c:idx val="1"/>
            <c:bubble3D val="0"/>
            <c:spPr>
              <a:solidFill>
                <a:schemeClr val="accent3">
                  <a:alpha val="90000"/>
                </a:schemeClr>
              </a:solidFill>
              <a:ln w="19050">
                <a:solidFill>
                  <a:schemeClr val="accent3">
                    <a:lumMod val="75000"/>
                  </a:schemeClr>
                </a:solidFill>
              </a:ln>
              <a:effectLst>
                <a:innerShdw blurRad="114300">
                  <a:schemeClr val="accent3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3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A-65D9-E44B-AA72-486EB05C292E}"/>
              </c:ext>
            </c:extLst>
          </c:dPt>
          <c:dPt>
            <c:idx val="2"/>
            <c:bubble3D val="0"/>
            <c:spPr>
              <a:solidFill>
                <a:schemeClr val="accent5">
                  <a:alpha val="90000"/>
                </a:schemeClr>
              </a:solidFill>
              <a:ln w="19050">
                <a:solidFill>
                  <a:schemeClr val="accent5">
                    <a:lumMod val="75000"/>
                  </a:schemeClr>
                </a:solidFill>
              </a:ln>
              <a:effectLst>
                <a:innerShdw blurRad="114300">
                  <a:schemeClr val="accent5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5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C-65D9-E44B-AA72-486EB05C292E}"/>
              </c:ext>
            </c:extLst>
          </c:dPt>
          <c:dLbls>
            <c:dLbl>
              <c:idx val="0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1"/>
                  </a:solidFill>
                  <a:round/>
                </a:ln>
                <a:effectLst>
                  <a:outerShdw blurRad="50800" dist="381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accent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65D9-E44B-AA72-486EB05C292E}"/>
                </c:ext>
              </c:extLst>
            </c:dLbl>
            <c:dLbl>
              <c:idx val="1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3"/>
                  </a:solidFill>
                  <a:round/>
                </a:ln>
                <a:effectLst>
                  <a:outerShdw blurRad="50800" dist="38100" dir="2700000" algn="tl" rotWithShape="0">
                    <a:schemeClr val="accent3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accent3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65D9-E44B-AA72-486EB05C292E}"/>
                </c:ext>
              </c:extLst>
            </c:dLbl>
            <c:dLbl>
              <c:idx val="2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5"/>
                  </a:solidFill>
                  <a:round/>
                </a:ln>
                <a:effectLst>
                  <a:outerShdw blurRad="50800" dist="38100" dir="2700000" algn="tl" rotWithShape="0">
                    <a:schemeClr val="accent5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accent5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65D9-E44B-AA72-486EB05C292E}"/>
                </c:ext>
              </c:extLst>
            </c:dLbl>
            <c:spPr>
              <a:solidFill>
                <a:prstClr val="white">
                  <a:alpha val="90000"/>
                </a:prstClr>
              </a:solidFill>
              <a:ln w="12700" cap="flat" cmpd="sng" algn="ctr">
                <a:solidFill>
                  <a:srgbClr val="196B24"/>
                </a:solidFill>
                <a:round/>
              </a:ln>
              <a:effectLst>
                <a:outerShdw blurRad="50800" dist="38100" dir="2700000" algn="tl" rotWithShape="0">
                  <a:srgbClr val="196B24">
                    <a:lumMod val="75000"/>
                    <a:alpha val="40000"/>
                  </a:srgb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accent2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PivotTable!$L$16:$L$19</c:f>
              <c:strCache>
                <c:ptCount val="3"/>
                <c:pt idx="0">
                  <c:v>Full-Time</c:v>
                </c:pt>
                <c:pt idx="1">
                  <c:v>Contract</c:v>
                </c:pt>
                <c:pt idx="2">
                  <c:v>Part-Time</c:v>
                </c:pt>
              </c:strCache>
            </c:strRef>
          </c:cat>
          <c:val>
            <c:numRef>
              <c:f>PivotTable!$N$16:$N$19</c:f>
              <c:numCache>
                <c:formatCode>General</c:formatCode>
                <c:ptCount val="3"/>
                <c:pt idx="0">
                  <c:v>534</c:v>
                </c:pt>
                <c:pt idx="1">
                  <c:v>514</c:v>
                </c:pt>
                <c:pt idx="2">
                  <c:v>485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65D9-E44B-AA72-486EB05C292E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7000">
          <a:srgbClr val="92D050"/>
        </a:gs>
        <a:gs pos="82000">
          <a:schemeClr val="accent1">
            <a:lumMod val="105000"/>
            <a:satMod val="103000"/>
            <a:tint val="73000"/>
          </a:schemeClr>
        </a:gs>
        <a:gs pos="100000">
          <a:schemeClr val="accent1">
            <a:lumMod val="105000"/>
            <a:satMod val="109000"/>
            <a:tint val="81000"/>
          </a:schemeClr>
        </a:gs>
      </a:gsLst>
      <a:lin ang="5400000" scaled="0"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[Mini Project.xlsx]PivotTable!PivotTable9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Kualitas</a:t>
            </a:r>
            <a:r>
              <a:rPr lang="en-US" baseline="0"/>
              <a:t> karyawan yang keluar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circle"/>
          <c:size val="6"/>
          <c:spPr>
            <a:solidFill>
              <a:schemeClr val="accent1">
                <a:alpha val="85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PivotTable!$B$33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PivotTable!$A$34:$A$36</c:f>
              <c:strCache>
                <c:ptCount val="2"/>
                <c:pt idx="0">
                  <c:v>Berkualitas</c:v>
                </c:pt>
                <c:pt idx="1">
                  <c:v>Biasa saja</c:v>
                </c:pt>
              </c:strCache>
            </c:strRef>
          </c:cat>
          <c:val>
            <c:numRef>
              <c:f>PivotTable!$B$34:$B$36</c:f>
              <c:numCache>
                <c:formatCode>General</c:formatCode>
                <c:ptCount val="2"/>
                <c:pt idx="0">
                  <c:v>43</c:v>
                </c:pt>
                <c:pt idx="1">
                  <c:v>1490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4A-AC41-B082-6AF23353191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798636928"/>
        <c:axId val="798635136"/>
      </c:barChart>
      <c:catAx>
        <c:axId val="798636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8635136"/>
        <c:crosses val="autoZero"/>
        <c:auto val="1"/>
        <c:lblAlgn val="ctr"/>
        <c:lblOffset val="100"/>
        <c:noMultiLvlLbl val="0"/>
      </c:catAx>
      <c:valAx>
        <c:axId val="798635136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98636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7000">
          <a:srgbClr val="92D050"/>
        </a:gs>
        <a:gs pos="82000">
          <a:schemeClr val="accent1">
            <a:lumMod val="105000"/>
            <a:satMod val="103000"/>
            <a:tint val="73000"/>
          </a:schemeClr>
        </a:gs>
        <a:gs pos="100000">
          <a:schemeClr val="accent1">
            <a:lumMod val="105000"/>
            <a:satMod val="109000"/>
            <a:tint val="81000"/>
          </a:schemeClr>
        </a:gs>
      </a:gsLst>
      <a:lin ang="5400000" scaled="0"/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3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000" b="0" i="0" u="none" strike="noStrike" kern="1200" baseline="0">
      <a:effectLst/>
    </cs:defRPr>
    <cs:bodyPr rot="0" spcFirstLastPara="1" vertOverflow="clip" horzOverflow="clip" vert="horz" wrap="square" lIns="38100" tIns="19050" rIns="38100" bIns="19050" anchor="ctr" anchorCtr="1">
      <a:spAutoFit/>
    </cs:bodyPr>
  </cs:dataLabel>
  <cs:dataLabelCallout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000" b="0" i="0" u="none" strike="noStrike" kern="1200" baseline="0">
      <a:effectLst/>
    </cs:defRPr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tx1"/>
    </cs:fontRef>
    <cs:spPr>
      <a:solidFill>
        <a:schemeClr val="phClr">
          <a:alpha val="90000"/>
        </a:schemeClr>
      </a:solidFill>
      <a:ln w="19050">
        <a:solidFill>
          <a:schemeClr val="phClr">
            <a:lumMod val="75000"/>
          </a:schemeClr>
        </a:solidFill>
      </a:ln>
      <a:effectLst>
        <a:innerShdw blurRad="114300">
          <a:schemeClr val="phClr">
            <a:lumMod val="75000"/>
          </a:schemeClr>
        </a:innerShdw>
      </a:effectLst>
      <a:scene3d>
        <a:camera prst="orthographicFront"/>
        <a:lightRig rig="threePt" dir="t"/>
      </a:scene3d>
      <a:sp3d contourW="19050" prstMaterial="flat">
        <a:contourClr>
          <a:schemeClr val="accent4">
            <a:lumMod val="75000"/>
          </a:schemeClr>
        </a:contourClr>
      </a:sp3d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C132D-61E7-514D-8EF2-08ABA80C2B41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0394E-2B09-D24F-AA10-B3F8A18B3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183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2.xml" Id="rId2" /><Relationship Type="http://schemas.openxmlformats.org/officeDocument/2006/relationships/notesMaster" Target="/ppt/notesMasters/notesMaster1.xml" Id="rI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3.xml" Id="rId2" /><Relationship Type="http://schemas.openxmlformats.org/officeDocument/2006/relationships/notesMaster" Target="/ppt/notesMasters/notesMaster1.xml" Id="rI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4.xml" Id="rId2" /><Relationship Type="http://schemas.openxmlformats.org/officeDocument/2006/relationships/notesMaster" Target="/ppt/notesMasters/notesMaster1.xml" Id="rI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6.xml" Id="rId2" /><Relationship Type="http://schemas.openxmlformats.org/officeDocument/2006/relationships/notesMaster" Target="/ppt/notesMasters/notesMaster1.xml" Id="rI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7.xml" Id="rId2" /><Relationship Type="http://schemas.openxmlformats.org/officeDocument/2006/relationships/notesMaster" Target="/ppt/notesMasters/notesMaster1.xml" Id="rI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8.xml" Id="rId2" /><Relationship Type="http://schemas.openxmlformats.org/officeDocument/2006/relationships/notesMaster" Target="/ppt/notesMasters/notesMaster1.xml" Id="rI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9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10394E-2B09-D24F-AA10-B3F8A18B35E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94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37226-9EC9-4D62-0D92-D3DA479BC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25184A-1C1C-511C-99D8-64A80B8C3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53F020-4757-B0DF-018A-A0CA5607C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1A998-D617-247E-F502-0C93EFEA9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10394E-2B09-D24F-AA10-B3F8A18B35E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08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A1C3A-78DA-BE42-34E0-6FE25B620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CCDA7-5C40-437F-9DDA-3084066B8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D1868-7460-C444-BDA1-D0529D61B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D0CED-8115-410E-FC12-9FCEA8F24F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10394E-2B09-D24F-AA10-B3F8A18B35E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72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10394E-2B09-D24F-AA10-B3F8A18B35E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1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60060e96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d60060e96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CC0A33-499D-39D1-C9B4-E2B01AF82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C042-F066-594D-A919-CBBA70A6D86A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97D657-1EA0-6718-95AB-638064893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BF4D6-A8E4-F1B6-CF58-E8D2DDF02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45767-2618-184A-ABAF-B3B492854D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271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04800" y="304800"/>
            <a:ext cx="6009200" cy="3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04980" y="5710500"/>
            <a:ext cx="6009200" cy="84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7068600" y="0"/>
            <a:ext cx="51232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50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 txBox="1">
            <a:spLocks noGrp="1"/>
          </p:cNvSpPr>
          <p:nvPr>
            <p:ph type="title"/>
          </p:nvPr>
        </p:nvSpPr>
        <p:spPr>
          <a:xfrm>
            <a:off x="304800" y="1282933"/>
            <a:ext cx="4204400" cy="13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title" idx="2" hasCustomPrompt="1"/>
          </p:nvPr>
        </p:nvSpPr>
        <p:spPr>
          <a:xfrm>
            <a:off x="4644700" y="1282867"/>
            <a:ext cx="877200" cy="5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>
            <a:spLocks noGrp="1"/>
          </p:cNvSpPr>
          <p:nvPr>
            <p:ph type="title" idx="3" hasCustomPrompt="1"/>
          </p:nvPr>
        </p:nvSpPr>
        <p:spPr>
          <a:xfrm>
            <a:off x="4644700" y="2636849"/>
            <a:ext cx="877200" cy="5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title" idx="4" hasCustomPrompt="1"/>
          </p:nvPr>
        </p:nvSpPr>
        <p:spPr>
          <a:xfrm>
            <a:off x="4644700" y="1960352"/>
            <a:ext cx="877200" cy="5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>
            <a:spLocks noGrp="1"/>
          </p:cNvSpPr>
          <p:nvPr>
            <p:ph type="title" idx="5" hasCustomPrompt="1"/>
          </p:nvPr>
        </p:nvSpPr>
        <p:spPr>
          <a:xfrm>
            <a:off x="4644700" y="3313335"/>
            <a:ext cx="877200" cy="5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1"/>
          </p:nvPr>
        </p:nvSpPr>
        <p:spPr>
          <a:xfrm>
            <a:off x="5657400" y="1282933"/>
            <a:ext cx="6229600" cy="5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67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subTitle" idx="6"/>
          </p:nvPr>
        </p:nvSpPr>
        <p:spPr>
          <a:xfrm>
            <a:off x="5657400" y="2636752"/>
            <a:ext cx="6229600" cy="5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67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7"/>
          </p:nvPr>
        </p:nvSpPr>
        <p:spPr>
          <a:xfrm>
            <a:off x="5657400" y="1959843"/>
            <a:ext cx="6229600" cy="5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67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8"/>
          </p:nvPr>
        </p:nvSpPr>
        <p:spPr>
          <a:xfrm>
            <a:off x="5657400" y="3313661"/>
            <a:ext cx="6229600" cy="5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67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9" hasCustomPrompt="1"/>
          </p:nvPr>
        </p:nvSpPr>
        <p:spPr>
          <a:xfrm>
            <a:off x="4644700" y="3990832"/>
            <a:ext cx="877200" cy="5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13" hasCustomPrompt="1"/>
          </p:nvPr>
        </p:nvSpPr>
        <p:spPr>
          <a:xfrm>
            <a:off x="4644700" y="5344815"/>
            <a:ext cx="877200" cy="5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14" hasCustomPrompt="1"/>
          </p:nvPr>
        </p:nvSpPr>
        <p:spPr>
          <a:xfrm>
            <a:off x="4644700" y="4668317"/>
            <a:ext cx="877200" cy="5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15" hasCustomPrompt="1"/>
          </p:nvPr>
        </p:nvSpPr>
        <p:spPr>
          <a:xfrm>
            <a:off x="4644700" y="6021300"/>
            <a:ext cx="877200" cy="5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6"/>
          </p:nvPr>
        </p:nvSpPr>
        <p:spPr>
          <a:xfrm>
            <a:off x="5657400" y="3990572"/>
            <a:ext cx="6229600" cy="5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67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7"/>
          </p:nvPr>
        </p:nvSpPr>
        <p:spPr>
          <a:xfrm>
            <a:off x="5657400" y="5344391"/>
            <a:ext cx="6229600" cy="5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67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8"/>
          </p:nvPr>
        </p:nvSpPr>
        <p:spPr>
          <a:xfrm>
            <a:off x="5657400" y="4667481"/>
            <a:ext cx="6229600" cy="5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67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9"/>
          </p:nvPr>
        </p:nvSpPr>
        <p:spPr>
          <a:xfrm>
            <a:off x="5657400" y="6021300"/>
            <a:ext cx="6229600" cy="5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67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48153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4778000" cy="3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ubTitle" idx="1"/>
          </p:nvPr>
        </p:nvSpPr>
        <p:spPr>
          <a:xfrm>
            <a:off x="5415967" y="304800"/>
            <a:ext cx="6471200" cy="3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0" y="4134633"/>
            <a:ext cx="12192000" cy="27232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14296608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Id13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12.xml" Id="rId12" /><Relationship Type="http://schemas.openxmlformats.org/officeDocument/2006/relationships/theme" Target="/ppt/theme/theme1.xml" Id="rId15" /><Relationship Type="http://schemas.openxmlformats.org/officeDocument/2006/relationships/slideLayout" Target="/ppt/slideLayouts/slideLayout14.xml" Id="rId14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88716A-1567-C418-271D-0BC3D1EA0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36E10-3F22-4773-86F6-F8C37F750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644C8-C22A-5885-59B8-9B473E889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E8C042-F066-594D-A919-CBBA70A6D86A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C96CD-0D56-CE45-A688-1729710CA9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FA058-3F11-B4E1-23A6-7F28B55D7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B45767-2618-184A-ABAF-B3B492854D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835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6.jpg" Id="rId8" /><Relationship Type="http://schemas.openxmlformats.org/officeDocument/2006/relationships/image" Target="/ppt/media/image11.jpeg" Id="rId13" /><Relationship Type="http://schemas.openxmlformats.org/officeDocument/2006/relationships/image" Target="/ppt/media/image1.JPG" Id="rId3" /><Relationship Type="http://schemas.openxmlformats.org/officeDocument/2006/relationships/image" Target="/ppt/media/image5.jpeg" Id="rId7" /><Relationship Type="http://schemas.openxmlformats.org/officeDocument/2006/relationships/image" Target="/ppt/media/image10.jpg" Id="rId12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4.jpeg" Id="rId6" /><Relationship Type="http://schemas.openxmlformats.org/officeDocument/2006/relationships/image" Target="/ppt/media/image9.jpg" Id="rId11" /><Relationship Type="http://schemas.openxmlformats.org/officeDocument/2006/relationships/image" Target="/ppt/media/image3.jpeg" Id="rId5" /><Relationship Type="http://schemas.openxmlformats.org/officeDocument/2006/relationships/image" Target="/ppt/media/image8.jpg" Id="rId10" /><Relationship Type="http://schemas.openxmlformats.org/officeDocument/2006/relationships/image" Target="/ppt/media/image2.jpeg" Id="rId4" /><Relationship Type="http://schemas.openxmlformats.org/officeDocument/2006/relationships/image" Target="/ppt/media/image7.jpg" Id="rId9" /><Relationship Type="http://schemas.openxmlformats.org/officeDocument/2006/relationships/image" Target="/ppt/media/image12.png" Id="rId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6.jpg" Id="rId8" /><Relationship Type="http://schemas.openxmlformats.org/officeDocument/2006/relationships/image" Target="/ppt/media/image11.jpeg" Id="rId13" /><Relationship Type="http://schemas.openxmlformats.org/officeDocument/2006/relationships/image" Target="/ppt/media/image1.JPG" Id="rId3" /><Relationship Type="http://schemas.openxmlformats.org/officeDocument/2006/relationships/image" Target="/ppt/media/image5.jpeg" Id="rId7" /><Relationship Type="http://schemas.openxmlformats.org/officeDocument/2006/relationships/image" Target="/ppt/media/image10.jpg" Id="rId12" /><Relationship Type="http://schemas.openxmlformats.org/officeDocument/2006/relationships/notesSlide" Target="/ppt/notesSlides/notesSlide2.xml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4.jpeg" Id="rId6" /><Relationship Type="http://schemas.openxmlformats.org/officeDocument/2006/relationships/image" Target="/ppt/media/image9.jpg" Id="rId11" /><Relationship Type="http://schemas.openxmlformats.org/officeDocument/2006/relationships/image" Target="/ppt/media/image3.jpeg" Id="rId5" /><Relationship Type="http://schemas.openxmlformats.org/officeDocument/2006/relationships/image" Target="/ppt/media/image8.jpg" Id="rId10" /><Relationship Type="http://schemas.openxmlformats.org/officeDocument/2006/relationships/image" Target="/ppt/media/image2.jpeg" Id="rId4" /><Relationship Type="http://schemas.openxmlformats.org/officeDocument/2006/relationships/image" Target="/ppt/media/image7.jpg" Id="rId9" /><Relationship Type="http://schemas.openxmlformats.org/officeDocument/2006/relationships/image" Target="/ppt/media/image12.png" Id="rId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6.jpg" Id="rId8" /><Relationship Type="http://schemas.openxmlformats.org/officeDocument/2006/relationships/image" Target="/ppt/media/image11.jpeg" Id="rId13" /><Relationship Type="http://schemas.openxmlformats.org/officeDocument/2006/relationships/image" Target="/ppt/media/image1.JPG" Id="rId3" /><Relationship Type="http://schemas.openxmlformats.org/officeDocument/2006/relationships/image" Target="/ppt/media/image5.jpeg" Id="rId7" /><Relationship Type="http://schemas.openxmlformats.org/officeDocument/2006/relationships/image" Target="/ppt/media/image10.jpg" Id="rId12" /><Relationship Type="http://schemas.openxmlformats.org/officeDocument/2006/relationships/notesSlide" Target="/ppt/notesSlides/notesSlide3.xml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4.jpeg" Id="rId6" /><Relationship Type="http://schemas.openxmlformats.org/officeDocument/2006/relationships/image" Target="/ppt/media/image9.jpg" Id="rId11" /><Relationship Type="http://schemas.openxmlformats.org/officeDocument/2006/relationships/image" Target="/ppt/media/image3.jpeg" Id="rId5" /><Relationship Type="http://schemas.openxmlformats.org/officeDocument/2006/relationships/image" Target="/ppt/media/image8.jpg" Id="rId10" /><Relationship Type="http://schemas.openxmlformats.org/officeDocument/2006/relationships/image" Target="/ppt/media/image2.jpeg" Id="rId4" /><Relationship Type="http://schemas.openxmlformats.org/officeDocument/2006/relationships/image" Target="/ppt/media/image7.jpg" Id="rId9" /><Relationship Type="http://schemas.openxmlformats.org/officeDocument/2006/relationships/image" Target="/ppt/media/image12.png" Id="rId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14.jpg" Id="rId3" /><Relationship Type="http://schemas.openxmlformats.org/officeDocument/2006/relationships/image" Target="/ppt/media/image13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16.emf" Id="rId5" /><Relationship Type="http://schemas.openxmlformats.org/officeDocument/2006/relationships/image" Target="/ppt/media/image15.jpg" Id="rI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22.png" Id="rId8" /><Relationship Type="http://schemas.openxmlformats.org/officeDocument/2006/relationships/image" Target="/ppt/media/image17.png" Id="rId3" /><Relationship Type="http://schemas.openxmlformats.org/officeDocument/2006/relationships/image" Target="/ppt/media/image21.png" Id="rId7" /><Relationship Type="http://schemas.openxmlformats.org/officeDocument/2006/relationships/notesSlide" Target="/ppt/notesSlides/notesSlide4.xml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20.png" Id="rId6" /><Relationship Type="http://schemas.openxmlformats.org/officeDocument/2006/relationships/image" Target="/ppt/media/image19.png" Id="rId5" /><Relationship Type="http://schemas.openxmlformats.org/officeDocument/2006/relationships/image" Target="/ppt/media/image18.png" Id="rId4" /><Relationship Type="http://schemas.openxmlformats.org/officeDocument/2006/relationships/image" Target="/ppt/media/image23.png" Id="rI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24.png" Id="rId3" /><Relationship Type="http://schemas.openxmlformats.org/officeDocument/2006/relationships/notesSlide" Target="/ppt/notesSlides/notesSlide5.xml" Id="rId2" /><Relationship Type="http://schemas.openxmlformats.org/officeDocument/2006/relationships/slideLayout" Target="/ppt/slideLayouts/slideLayout12.xml" Id="rI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notesSlide" Target="/ppt/notesSlides/notesSlide6.xml" Id="rId2" /><Relationship Type="http://schemas.openxmlformats.org/officeDocument/2006/relationships/slideLayout" Target="/ppt/slideLayouts/slideLayout13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notesSlide" Target="/ppt/notesSlides/notesSlide7.xml" Id="rId2" /><Relationship Type="http://schemas.openxmlformats.org/officeDocument/2006/relationships/slideLayout" Target="/ppt/slideLayouts/slideLayout14.xml" Id="rI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26.png" Id="rId3" /><Relationship Type="http://schemas.openxmlformats.org/officeDocument/2006/relationships/image" Target="/ppt/media/image25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27.png" Id="rI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29.png" Id="rId3" /><Relationship Type="http://schemas.openxmlformats.org/officeDocument/2006/relationships/image" Target="/ppt/media/image28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30.png" Id="rI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chart" Target="/ppt/charts/chart1.xml" Id="rId2" /><Relationship Type="http://schemas.openxmlformats.org/officeDocument/2006/relationships/slideLayout" Target="/ppt/slideLayouts/slideLayout7.xml" Id="rI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31.png" Id="rId3" /><Relationship Type="http://schemas.openxmlformats.org/officeDocument/2006/relationships/chart" Target="/ppt/charts/chart2.xml" Id="rId2" /><Relationship Type="http://schemas.openxmlformats.org/officeDocument/2006/relationships/slideLayout" Target="/ppt/slideLayouts/slideLayout7.xml" Id="rI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chart" Target="/ppt/charts/chart3.xml" Id="rId2" /><Relationship Type="http://schemas.openxmlformats.org/officeDocument/2006/relationships/slideLayout" Target="/ppt/slideLayouts/slideLayout7.xml" Id="rI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32.png" Id="rId2" /><Relationship Type="http://schemas.openxmlformats.org/officeDocument/2006/relationships/slideLayout" Target="/ppt/slideLayouts/slideLayout7.xml" Id="rI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33.svg" Id="rId2" /><Relationship Type="http://schemas.openxmlformats.org/officeDocument/2006/relationships/slideLayout" Target="/ppt/slideLayouts/slideLayout7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50D971C-42CE-2FC7-DC37-4385EEE817C3}"/>
              </a:ext>
            </a:extLst>
          </p:cNvPr>
          <p:cNvSpPr/>
          <p:nvPr/>
        </p:nvSpPr>
        <p:spPr>
          <a:xfrm>
            <a:off x="2866768" y="1542402"/>
            <a:ext cx="6709718" cy="23879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1" kern="1200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Introduction</a:t>
            </a:r>
            <a:endParaRPr lang="en-US" sz="5200" b="1" kern="1200" cap="none" spc="0" dirty="0">
              <a:ln w="12700" cmpd="sng">
                <a:solidFill>
                  <a:schemeClr val="accent4"/>
                </a:solidFill>
                <a:prstDash val="solid"/>
              </a:ln>
              <a:solidFill>
                <a:schemeClr val="tx2"/>
              </a:solidFill>
              <a:effectLst/>
              <a:latin typeface="+mj-lt"/>
              <a:ea typeface="+mj-ea"/>
              <a:cs typeface="+mj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54420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6E454A77-585A-22E3-A98C-AE528D65394B}"/>
              </a:ext>
            </a:extLst>
          </p:cNvPr>
          <p:cNvGrpSpPr/>
          <p:nvPr/>
        </p:nvGrpSpPr>
        <p:grpSpPr>
          <a:xfrm>
            <a:off x="-1363236" y="608861"/>
            <a:ext cx="62043590" cy="5640278"/>
            <a:chOff x="-19333883" y="295507"/>
            <a:chExt cx="68644843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4F91910-F8FE-1CB9-0637-4B8ABC033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-17422967" y="1495872"/>
              <a:ext cx="6266982" cy="386625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FE5845A-06BA-0000-98A3-22F8A359D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9094191" y="295509"/>
              <a:ext cx="3262156" cy="626698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DC0863B-29A8-5E2B-43F6-D2BB94CE5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5832036" y="295509"/>
              <a:ext cx="3262156" cy="626698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06F346F-62BA-C383-E531-6D4B329E3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19333883" y="295509"/>
              <a:ext cx="3262156" cy="62669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4B8151F-2056-C12F-E95C-65B220BF8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12356347" y="295507"/>
              <a:ext cx="3262156" cy="626698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39363AE-81AD-EAEE-9A58-6C1E8BF3D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8531840" y="973737"/>
              <a:ext cx="7772400" cy="518160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9C99BE4-59BE-B6DA-F514-0FD6CCC8B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1538560" y="1150451"/>
              <a:ext cx="7772400" cy="4760898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1E3E270-0239-7A50-1897-757B75268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6235507" y="1150451"/>
              <a:ext cx="8445053" cy="500488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A1CDFF0-C8C9-2BA6-53C0-1C443A2C6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4680560" y="295507"/>
              <a:ext cx="6858000" cy="685800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99FFEBF-33D1-B7B4-B34C-E2B9CED0D8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-2569880" y="782356"/>
              <a:ext cx="7570650" cy="5293283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BCD2832-06B3-E526-0862-121D4823C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000770" y="913735"/>
              <a:ext cx="6226151" cy="5161904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144C2F67-9C47-F1D2-E647-0A3806D5D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134432" y="913735"/>
              <a:ext cx="7397408" cy="5161904"/>
            </a:xfrm>
            <a:prstGeom prst="rect">
              <a:avLst/>
            </a:prstGeom>
          </p:spPr>
        </p:pic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478B5565-8AB9-877C-0CF5-D0BFC925A7D5}"/>
              </a:ext>
            </a:extLst>
          </p:cNvPr>
          <p:cNvSpPr/>
          <p:nvPr/>
        </p:nvSpPr>
        <p:spPr>
          <a:xfrm>
            <a:off x="-1713714" y="-3302000"/>
            <a:ext cx="15443200" cy="508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E821876-EAB4-0325-71D4-A96484C68721}"/>
              </a:ext>
            </a:extLst>
          </p:cNvPr>
          <p:cNvSpPr/>
          <p:nvPr/>
        </p:nvSpPr>
        <p:spPr>
          <a:xfrm>
            <a:off x="-1462090" y="4223222"/>
            <a:ext cx="15443200" cy="508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CD9C72-5A79-C63D-FCA0-2ED67F7E4B12}"/>
              </a:ext>
            </a:extLst>
          </p:cNvPr>
          <p:cNvSpPr/>
          <p:nvPr/>
        </p:nvSpPr>
        <p:spPr>
          <a:xfrm>
            <a:off x="1690368" y="622297"/>
            <a:ext cx="84908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Muhammad Alfi Syahputra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729C5-60CA-365C-13B7-BF832CCED7E6}"/>
              </a:ext>
            </a:extLst>
          </p:cNvPr>
          <p:cNvSpPr txBox="1"/>
          <p:nvPr/>
        </p:nvSpPr>
        <p:spPr>
          <a:xfrm>
            <a:off x="1330853" y="5072681"/>
            <a:ext cx="93540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entury" panose="02040604050505020304" pitchFamily="18" charset="0"/>
              </a:rPr>
              <a:t>Merupakan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anak</a:t>
            </a:r>
            <a:r>
              <a:rPr lang="en-US" dirty="0">
                <a:latin typeface="Century" panose="02040604050505020304" pitchFamily="18" charset="0"/>
              </a:rPr>
              <a:t> ke-2 </a:t>
            </a:r>
            <a:r>
              <a:rPr lang="en-US" dirty="0" err="1">
                <a:latin typeface="Century" panose="02040604050505020304" pitchFamily="18" charset="0"/>
              </a:rPr>
              <a:t>dari</a:t>
            </a:r>
            <a:r>
              <a:rPr lang="en-US" dirty="0">
                <a:latin typeface="Century" panose="02040604050505020304" pitchFamily="18" charset="0"/>
              </a:rPr>
              <a:t> 2 </a:t>
            </a:r>
            <a:r>
              <a:rPr lang="en-US" dirty="0" err="1">
                <a:latin typeface="Century" panose="02040604050505020304" pitchFamily="18" charset="0"/>
              </a:rPr>
              <a:t>bersaudara</a:t>
            </a:r>
            <a:r>
              <a:rPr lang="en-US" dirty="0">
                <a:latin typeface="Century" panose="02040604050505020304" pitchFamily="18" charset="0"/>
              </a:rPr>
              <a:t>. Lahir di Jakarta </a:t>
            </a:r>
            <a:r>
              <a:rPr lang="en-US" dirty="0" err="1">
                <a:latin typeface="Century" panose="02040604050505020304" pitchFamily="18" charset="0"/>
              </a:rPr>
              <a:t>tahun</a:t>
            </a:r>
            <a:r>
              <a:rPr lang="en-US" dirty="0">
                <a:latin typeface="Century" panose="02040604050505020304" pitchFamily="18" charset="0"/>
              </a:rPr>
              <a:t> 2000. </a:t>
            </a:r>
            <a:r>
              <a:rPr lang="en-US" dirty="0" err="1">
                <a:latin typeface="Century" panose="02040604050505020304" pitchFamily="18" charset="0"/>
              </a:rPr>
              <a:t>saya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merupakan</a:t>
            </a:r>
            <a:r>
              <a:rPr lang="en-US" dirty="0">
                <a:latin typeface="Century" panose="02040604050505020304" pitchFamily="18" charset="0"/>
              </a:rPr>
              <a:t> orang yang </a:t>
            </a:r>
            <a:r>
              <a:rPr lang="en-US" dirty="0" err="1">
                <a:latin typeface="Century" panose="02040604050505020304" pitchFamily="18" charset="0"/>
              </a:rPr>
              <a:t>memiliki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motivasi</a:t>
            </a:r>
            <a:r>
              <a:rPr lang="en-US" dirty="0">
                <a:latin typeface="Century" panose="02040604050505020304" pitchFamily="18" charset="0"/>
              </a:rPr>
              <a:t> dan </a:t>
            </a:r>
            <a:r>
              <a:rPr lang="en-US" dirty="0" err="1">
                <a:latin typeface="Century" panose="02040604050505020304" pitchFamily="18" charset="0"/>
              </a:rPr>
              <a:t>inisiatif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tinggi</a:t>
            </a:r>
            <a:r>
              <a:rPr lang="en-US" dirty="0">
                <a:latin typeface="Century" panose="02040604050505020304" pitchFamily="18" charset="0"/>
              </a:rPr>
              <a:t>, </a:t>
            </a:r>
            <a:r>
              <a:rPr lang="en-US" dirty="0" err="1">
                <a:latin typeface="Century" panose="02040604050505020304" pitchFamily="18" charset="0"/>
              </a:rPr>
              <a:t>serta</a:t>
            </a:r>
            <a:r>
              <a:rPr lang="en-US" dirty="0">
                <a:latin typeface="Century" panose="02040604050505020304" pitchFamily="18" charset="0"/>
              </a:rPr>
              <a:t> rasa </a:t>
            </a:r>
            <a:r>
              <a:rPr lang="en-US" dirty="0" err="1">
                <a:latin typeface="Century" panose="02040604050505020304" pitchFamily="18" charset="0"/>
              </a:rPr>
              <a:t>ingin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terus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mengembangkan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keahlian</a:t>
            </a:r>
            <a:r>
              <a:rPr lang="en-US" dirty="0">
                <a:latin typeface="Century" panose="02040604050505020304" pitchFamily="18" charset="0"/>
              </a:rPr>
              <a:t> dan </a:t>
            </a:r>
            <a:r>
              <a:rPr lang="en-US" dirty="0" err="1">
                <a:latin typeface="Century" panose="02040604050505020304" pitchFamily="18" charset="0"/>
              </a:rPr>
              <a:t>kemampuan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profesionalnya</a:t>
            </a:r>
            <a:r>
              <a:rPr lang="en-US" dirty="0">
                <a:latin typeface="Century" panose="02040604050505020304" pitchFamily="18" charset="0"/>
              </a:rPr>
              <a:t>. </a:t>
            </a:r>
            <a:r>
              <a:rPr lang="en-US" dirty="0" err="1">
                <a:latin typeface="Century" panose="02040604050505020304" pitchFamily="18" charset="0"/>
              </a:rPr>
              <a:t>Bidang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minat</a:t>
            </a:r>
            <a:r>
              <a:rPr lang="en-US" dirty="0">
                <a:latin typeface="Century" panose="02040604050505020304" pitchFamily="18" charset="0"/>
              </a:rPr>
              <a:t>: </a:t>
            </a:r>
            <a:r>
              <a:rPr lang="en-US" dirty="0" err="1">
                <a:latin typeface="Century" panose="02040604050505020304" pitchFamily="18" charset="0"/>
              </a:rPr>
              <a:t>Bisnis</a:t>
            </a:r>
            <a:r>
              <a:rPr lang="en-US" dirty="0">
                <a:latin typeface="Century" panose="02040604050505020304" pitchFamily="18" charset="0"/>
              </a:rPr>
              <a:t>, Desain, </a:t>
            </a:r>
            <a:r>
              <a:rPr lang="en-US" dirty="0" err="1">
                <a:latin typeface="Century" panose="02040604050505020304" pitchFamily="18" charset="0"/>
              </a:rPr>
              <a:t>Penyuntingan</a:t>
            </a:r>
            <a:r>
              <a:rPr lang="en-US" dirty="0">
                <a:latin typeface="Century" panose="02040604050505020304" pitchFamily="18" charset="0"/>
              </a:rPr>
              <a:t>, </a:t>
            </a:r>
            <a:r>
              <a:rPr lang="en-US" dirty="0" err="1">
                <a:latin typeface="Century" panose="02040604050505020304" pitchFamily="18" charset="0"/>
              </a:rPr>
              <a:t>Hubungan</a:t>
            </a:r>
            <a:r>
              <a:rPr lang="en-US" dirty="0">
                <a:latin typeface="Century" panose="02040604050505020304" pitchFamily="18" charset="0"/>
              </a:rPr>
              <a:t> Luar Negeri, </a:t>
            </a:r>
            <a:r>
              <a:rPr lang="en-US" dirty="0" err="1">
                <a:latin typeface="Century" panose="02040604050505020304" pitchFamily="18" charset="0"/>
              </a:rPr>
              <a:t>Hubungan</a:t>
            </a:r>
            <a:r>
              <a:rPr lang="en-US" dirty="0">
                <a:latin typeface="Century" panose="02040604050505020304" pitchFamily="18" charset="0"/>
              </a:rPr>
              <a:t> Masyarakat, dan </a:t>
            </a:r>
            <a:r>
              <a:rPr lang="en-US" dirty="0" err="1">
                <a:latin typeface="Century" panose="02040604050505020304" pitchFamily="18" charset="0"/>
              </a:rPr>
              <a:t>Sumber</a:t>
            </a:r>
            <a:r>
              <a:rPr lang="en-US" dirty="0">
                <a:latin typeface="Century" panose="02040604050505020304" pitchFamily="18" charset="0"/>
              </a:rPr>
              <a:t> Daya </a:t>
            </a:r>
            <a:r>
              <a:rPr lang="en-US" dirty="0" err="1">
                <a:latin typeface="Century" panose="02040604050505020304" pitchFamily="18" charset="0"/>
              </a:rPr>
              <a:t>Manusia</a:t>
            </a:r>
            <a:r>
              <a:rPr lang="en-US" dirty="0">
                <a:latin typeface="Century" panose="02040604050505020304" pitchFamily="18" charset="0"/>
              </a:rPr>
              <a:t>. Dan </a:t>
            </a:r>
            <a:r>
              <a:rPr lang="en-US" dirty="0" err="1">
                <a:latin typeface="Century" panose="02040604050505020304" pitchFamily="18" charset="0"/>
              </a:rPr>
              <a:t>sekarang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ditambah</a:t>
            </a:r>
            <a:r>
              <a:rPr lang="en-US" dirty="0">
                <a:latin typeface="Century" panose="02040604050505020304" pitchFamily="18" charset="0"/>
              </a:rPr>
              <a:t> Data Analyst</a:t>
            </a:r>
          </a:p>
        </p:txBody>
      </p:sp>
    </p:spTree>
    <p:extLst>
      <p:ext uri="{BB962C8B-B14F-4D97-AF65-F5344CB8AC3E}">
        <p14:creationId xmlns:p14="http://schemas.microsoft.com/office/powerpoint/2010/main" val="3569266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57D99-A751-D30B-E550-A8BCBBDE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26ED98E6-F136-92C5-9CA1-CD6BB1F1ABBA}"/>
              </a:ext>
            </a:extLst>
          </p:cNvPr>
          <p:cNvGrpSpPr/>
          <p:nvPr/>
        </p:nvGrpSpPr>
        <p:grpSpPr>
          <a:xfrm>
            <a:off x="-18432036" y="608861"/>
            <a:ext cx="62043590" cy="5640278"/>
            <a:chOff x="-19333883" y="295507"/>
            <a:chExt cx="68644843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35D4081-36F8-E49A-7946-4EFF472AC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-17422967" y="1495872"/>
              <a:ext cx="6266982" cy="386625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BB45654-0B5D-F9C9-0695-49352AB14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9094191" y="295509"/>
              <a:ext cx="3262156" cy="626698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C73ED8F-68B7-69AB-1120-619D8B5FA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5832036" y="295509"/>
              <a:ext cx="3262156" cy="626698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109560F-7EFE-02A5-19A8-E41E917DE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19333883" y="295509"/>
              <a:ext cx="3262156" cy="62669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6E962B9-DB85-A05B-0FC8-38F48E9BB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12356347" y="295507"/>
              <a:ext cx="3262156" cy="626698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0492BFF-4204-A1EF-5A0A-E9A6DB891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8531840" y="973737"/>
              <a:ext cx="7772400" cy="518160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2B3945A-BF83-82E5-B709-857B72124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1538560" y="1150451"/>
              <a:ext cx="7772400" cy="4760898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3010046-0B32-53B4-F65E-6540BDDD0E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6235507" y="1150451"/>
              <a:ext cx="8445053" cy="500488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2A21D99-C471-B75C-3B25-FD8892BDC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4680560" y="295507"/>
              <a:ext cx="6858000" cy="685800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1A6DD04-AC19-018B-0A4F-58242DE3A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-2569880" y="782356"/>
              <a:ext cx="7570650" cy="5293283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D6C22023-5F12-0F0D-DAA9-E68EBEAB2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000770" y="913735"/>
              <a:ext cx="6226151" cy="5161904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CE5E18EB-C0EA-5AA7-20F2-258904704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134432" y="913735"/>
              <a:ext cx="7397408" cy="5161904"/>
            </a:xfrm>
            <a:prstGeom prst="rect">
              <a:avLst/>
            </a:prstGeom>
          </p:spPr>
        </p:pic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457D65BF-C8EB-FCEB-1865-59185315687D}"/>
              </a:ext>
            </a:extLst>
          </p:cNvPr>
          <p:cNvSpPr/>
          <p:nvPr/>
        </p:nvSpPr>
        <p:spPr>
          <a:xfrm>
            <a:off x="-1713714" y="-3302000"/>
            <a:ext cx="15443200" cy="508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BF75564-C174-75B8-ECFF-62375369C851}"/>
              </a:ext>
            </a:extLst>
          </p:cNvPr>
          <p:cNvSpPr/>
          <p:nvPr/>
        </p:nvSpPr>
        <p:spPr>
          <a:xfrm>
            <a:off x="-1363236" y="4593924"/>
            <a:ext cx="15443200" cy="508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775895-C3CE-2FBF-1661-6151AEA1AB36}"/>
              </a:ext>
            </a:extLst>
          </p:cNvPr>
          <p:cNvSpPr/>
          <p:nvPr/>
        </p:nvSpPr>
        <p:spPr>
          <a:xfrm>
            <a:off x="4089009" y="622297"/>
            <a:ext cx="369357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Pendidikan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B4B2AF-31D9-6F84-8E9B-6BF3931CFC04}"/>
              </a:ext>
            </a:extLst>
          </p:cNvPr>
          <p:cNvSpPr txBox="1"/>
          <p:nvPr/>
        </p:nvSpPr>
        <p:spPr>
          <a:xfrm>
            <a:off x="1404335" y="5226278"/>
            <a:ext cx="9354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entury" panose="02040604050505020304" pitchFamily="18" charset="0"/>
              </a:rPr>
              <a:t>Lulusan</a:t>
            </a:r>
            <a:r>
              <a:rPr lang="en-US" dirty="0">
                <a:latin typeface="Century" panose="02040604050505020304" pitchFamily="18" charset="0"/>
              </a:rPr>
              <a:t> President University </a:t>
            </a:r>
            <a:r>
              <a:rPr lang="en-US" dirty="0" err="1">
                <a:latin typeface="Century" panose="02040604050505020304" pitchFamily="18" charset="0"/>
              </a:rPr>
              <a:t>jurusan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Hubungan</a:t>
            </a:r>
            <a:r>
              <a:rPr lang="en-US" dirty="0">
                <a:latin typeface="Century" panose="02040604050505020304" pitchFamily="18" charset="0"/>
              </a:rPr>
              <a:t> Internasional </a:t>
            </a:r>
            <a:r>
              <a:rPr lang="en-US" dirty="0" err="1">
                <a:latin typeface="Century" panose="02040604050505020304" pitchFamily="18" charset="0"/>
              </a:rPr>
              <a:t>dengan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pemahaman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luas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mengenai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isu-isu</a:t>
            </a:r>
            <a:r>
              <a:rPr lang="en-US" dirty="0">
                <a:latin typeface="Century" panose="02040604050505020304" pitchFamily="18" charset="0"/>
              </a:rPr>
              <a:t> global, </a:t>
            </a:r>
            <a:r>
              <a:rPr lang="en-US" dirty="0" err="1">
                <a:latin typeface="Century" panose="02040604050505020304" pitchFamily="18" charset="0"/>
              </a:rPr>
              <a:t>politik</a:t>
            </a:r>
            <a:r>
              <a:rPr lang="en-US" dirty="0">
                <a:latin typeface="Century" panose="02040604050505020304" pitchFamily="18" charset="0"/>
              </a:rPr>
              <a:t> Indonesia, </a:t>
            </a:r>
            <a:r>
              <a:rPr lang="en-US" dirty="0" err="1">
                <a:latin typeface="Century" panose="02040604050505020304" pitchFamily="18" charset="0"/>
              </a:rPr>
              <a:t>isu</a:t>
            </a:r>
            <a:r>
              <a:rPr lang="en-US" dirty="0">
                <a:latin typeface="Century" panose="02040604050505020304" pitchFamily="18" charset="0"/>
              </a:rPr>
              <a:t> gender, dan </a:t>
            </a:r>
            <a:r>
              <a:rPr lang="en-US" dirty="0" err="1">
                <a:latin typeface="Century" panose="02040604050505020304" pitchFamily="18" charset="0"/>
              </a:rPr>
              <a:t>budaya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populer</a:t>
            </a:r>
            <a:r>
              <a:rPr lang="en-US" dirty="0">
                <a:latin typeface="Century" panose="020406040505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61575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889FD-5915-8C75-6DC3-3D53C9004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65DB6A2E-371F-DE4B-7955-A7CAE87FF106}"/>
              </a:ext>
            </a:extLst>
          </p:cNvPr>
          <p:cNvGrpSpPr/>
          <p:nvPr/>
        </p:nvGrpSpPr>
        <p:grpSpPr>
          <a:xfrm>
            <a:off x="-39514036" y="608861"/>
            <a:ext cx="62043590" cy="5640278"/>
            <a:chOff x="-19333883" y="295507"/>
            <a:chExt cx="68644843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03AFE19-9459-B9D3-4B37-57C14BC64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-17422967" y="1495872"/>
              <a:ext cx="6266982" cy="386625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990F646-69F0-F8CA-D791-F34BA1390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9094191" y="295509"/>
              <a:ext cx="3262156" cy="626698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588EBA8-D9E0-9C66-DFE5-4269CF381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5832036" y="295509"/>
              <a:ext cx="3262156" cy="626698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588C5C-5121-31E2-A6AD-8F4CBCCDE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19333883" y="295509"/>
              <a:ext cx="3262156" cy="62669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E495C23-2C3C-3C7C-4414-EB2DA11F9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12356347" y="295507"/>
              <a:ext cx="3262156" cy="626698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3E33E43-CFC5-27E4-96B6-AC1EF7FA3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8531840" y="973737"/>
              <a:ext cx="7772400" cy="518160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4DB64C9-BD5E-1221-4F56-E69F6C0ED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1538560" y="1150451"/>
              <a:ext cx="7772400" cy="4760898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4555789F-0368-43F8-F2A8-7C9FD8455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6235507" y="1150451"/>
              <a:ext cx="8445053" cy="500488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A67D9A19-F5AD-A775-C6BC-6E4C07905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4680560" y="295507"/>
              <a:ext cx="6858000" cy="685800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0898279D-4E71-42C5-2FE7-515584DC8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-2569880" y="782356"/>
              <a:ext cx="7570650" cy="5293283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DFD1449-ED2B-F465-3ADC-33F5993A9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000770" y="913735"/>
              <a:ext cx="6226151" cy="5161904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79D9C9D-7478-FE1A-D84B-199196B72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134432" y="913735"/>
              <a:ext cx="7397408" cy="5161904"/>
            </a:xfrm>
            <a:prstGeom prst="rect">
              <a:avLst/>
            </a:prstGeom>
          </p:spPr>
        </p:pic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F6950164-58C2-DC96-E7D0-B1530EF76F47}"/>
              </a:ext>
            </a:extLst>
          </p:cNvPr>
          <p:cNvSpPr/>
          <p:nvPr/>
        </p:nvSpPr>
        <p:spPr>
          <a:xfrm>
            <a:off x="-1713714" y="-3302000"/>
            <a:ext cx="15443200" cy="508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BDEFDAB-63F7-6EE0-5DC0-FA08D159DBC3}"/>
              </a:ext>
            </a:extLst>
          </p:cNvPr>
          <p:cNvSpPr/>
          <p:nvPr/>
        </p:nvSpPr>
        <p:spPr>
          <a:xfrm>
            <a:off x="-1363236" y="4593924"/>
            <a:ext cx="15443200" cy="508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4CF264-0E33-872B-5D08-A19050BCD7C0}"/>
              </a:ext>
            </a:extLst>
          </p:cNvPr>
          <p:cNvSpPr/>
          <p:nvPr/>
        </p:nvSpPr>
        <p:spPr>
          <a:xfrm>
            <a:off x="4224525" y="622297"/>
            <a:ext cx="34225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Internship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C9248-229D-E1A2-DC87-AD57D6B7B04E}"/>
              </a:ext>
            </a:extLst>
          </p:cNvPr>
          <p:cNvSpPr txBox="1"/>
          <p:nvPr/>
        </p:nvSpPr>
        <p:spPr>
          <a:xfrm>
            <a:off x="1418967" y="5350936"/>
            <a:ext cx="9354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entury" panose="02040604050505020304" pitchFamily="18" charset="0"/>
              </a:rPr>
              <a:t>Memiliki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pengalaman</a:t>
            </a:r>
            <a:r>
              <a:rPr lang="en-US" dirty="0">
                <a:latin typeface="Century" panose="02040604050505020304" pitchFamily="18" charset="0"/>
              </a:rPr>
              <a:t> internship </a:t>
            </a:r>
            <a:r>
              <a:rPr lang="en-US" dirty="0" err="1">
                <a:latin typeface="Century" panose="02040604050505020304" pitchFamily="18" charset="0"/>
              </a:rPr>
              <a:t>sebagai</a:t>
            </a:r>
            <a:r>
              <a:rPr lang="en-US" dirty="0">
                <a:latin typeface="Century" panose="02040604050505020304" pitchFamily="18" charset="0"/>
              </a:rPr>
              <a:t> staff </a:t>
            </a:r>
            <a:r>
              <a:rPr lang="en-US" dirty="0" err="1">
                <a:latin typeface="Century" panose="02040604050505020304" pitchFamily="18" charset="0"/>
              </a:rPr>
              <a:t>hubungan</a:t>
            </a:r>
            <a:r>
              <a:rPr lang="en-US" dirty="0">
                <a:latin typeface="Century" panose="02040604050505020304" pitchFamily="18" charset="0"/>
              </a:rPr>
              <a:t> Masyarakat dan juga </a:t>
            </a:r>
            <a:r>
              <a:rPr lang="en-US" dirty="0" err="1">
                <a:latin typeface="Century" panose="02040604050505020304" pitchFamily="18" charset="0"/>
              </a:rPr>
              <a:t>mengelola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akun</a:t>
            </a:r>
            <a:r>
              <a:rPr lang="en-US" dirty="0">
                <a:latin typeface="Century" panose="02040604050505020304" pitchFamily="18" charset="0"/>
              </a:rPr>
              <a:t> social media </a:t>
            </a:r>
            <a:r>
              <a:rPr lang="en-US" dirty="0" err="1">
                <a:latin typeface="Century" panose="02040604050505020304" pitchFamily="18" charset="0"/>
              </a:rPr>
              <a:t>untuk</a:t>
            </a:r>
            <a:r>
              <a:rPr lang="en-US" dirty="0">
                <a:latin typeface="Century" panose="02040604050505020304" pitchFamily="18" charset="0"/>
              </a:rPr>
              <a:t> Dinas Kesehatan Kota Bandung </a:t>
            </a:r>
            <a:r>
              <a:rPr lang="en-US" dirty="0" err="1">
                <a:latin typeface="Century" panose="02040604050505020304" pitchFamily="18" charset="0"/>
              </a:rPr>
              <a:t>selama</a:t>
            </a:r>
            <a:r>
              <a:rPr lang="en-US" dirty="0">
                <a:latin typeface="Century" panose="02040604050505020304" pitchFamily="18" charset="0"/>
              </a:rPr>
              <a:t> 6 </a:t>
            </a:r>
            <a:r>
              <a:rPr lang="en-US" dirty="0" err="1">
                <a:latin typeface="Century" panose="02040604050505020304" pitchFamily="18" charset="0"/>
              </a:rPr>
              <a:t>bulan</a:t>
            </a:r>
            <a:endParaRPr lang="en-US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360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9322C5-2A93-9DB1-D2BC-BA4688CC2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369" y="3163330"/>
            <a:ext cx="3608173" cy="36081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21A8D5-4338-448E-34B8-B00AE9C63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917" y="108771"/>
            <a:ext cx="4181083" cy="41810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4E972E-D35A-811E-1A65-5248A8CCD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656" y="108771"/>
            <a:ext cx="3892378" cy="36081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DAC19C-DA06-E16E-E219-16A4313BD6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7202" y="3608173"/>
            <a:ext cx="4476511" cy="316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8396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Google Shape;127;p27">
            <a:extLst>
              <a:ext uri="{FF2B5EF4-FFF2-40B4-BE49-F238E27FC236}">
                <a16:creationId xmlns:a16="http://schemas.microsoft.com/office/drawing/2014/main" id="{3184FD16-AD4D-53AE-5303-CB609B8A4A25}"/>
              </a:ext>
            </a:extLst>
          </p:cNvPr>
          <p:cNvSpPr txBox="1">
            <a:spLocks/>
          </p:cNvSpPr>
          <p:nvPr/>
        </p:nvSpPr>
        <p:spPr>
          <a:xfrm>
            <a:off x="398058" y="254320"/>
            <a:ext cx="2664120" cy="1244871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400" kern="1200" dirty="0">
                <a:solidFill>
                  <a:schemeClr val="accent1"/>
                </a:solidFill>
                <a:latin typeface="Impact" panose="020B0806030902050204" pitchFamily="34" charset="0"/>
              </a:rPr>
              <a:t>Project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61550D-7CDB-0458-9FF9-D94BC835A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72" y="1499191"/>
            <a:ext cx="2492708" cy="35357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A096B4-C86D-FE17-4162-0E792F291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6078" y="1499191"/>
            <a:ext cx="2736850" cy="35357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FBDD6B-D262-B978-776E-A3657ED9CB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2928" y="394950"/>
            <a:ext cx="3937000" cy="2489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0B529A-BC5D-4BBC-3034-407B3776F1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9928" y="275097"/>
            <a:ext cx="2313200" cy="31746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EB2918-91B8-0820-0B47-7670C76762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5215" y="2884150"/>
            <a:ext cx="3350707" cy="29671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550B746-6989-48C8-10F8-145D8FC43E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106" y="5141820"/>
            <a:ext cx="4726948" cy="15489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FBAFCEA-4A85-C94A-557C-C97ACD303C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2657" y="3623239"/>
            <a:ext cx="2729560" cy="2839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1609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>
            <a:spLocks noGrp="1"/>
          </p:cNvSpPr>
          <p:nvPr>
            <p:ph type="ctrTitle"/>
          </p:nvPr>
        </p:nvSpPr>
        <p:spPr>
          <a:xfrm>
            <a:off x="304800" y="304800"/>
            <a:ext cx="6009200" cy="355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sz="6000" dirty="0">
                <a:solidFill>
                  <a:schemeClr val="accent1"/>
                </a:solidFill>
                <a:latin typeface="Impact" panose="020B0806030902050204" pitchFamily="34" charset="0"/>
              </a:rPr>
              <a:t>Turn</a:t>
            </a:r>
            <a:r>
              <a:rPr lang="en" sz="6000" dirty="0">
                <a:solidFill>
                  <a:srgbClr val="FF0000"/>
                </a:solidFill>
                <a:latin typeface="Impact" panose="020B0806030902050204" pitchFamily="34" charset="0"/>
              </a:rPr>
              <a:t>over</a:t>
            </a:r>
            <a:r>
              <a:rPr lang="en" sz="6000" dirty="0">
                <a:solidFill>
                  <a:schemeClr val="accent1"/>
                </a:solidFill>
                <a:latin typeface="Impact" panose="020B0806030902050204" pitchFamily="34" charset="0"/>
              </a:rPr>
              <a:t> </a:t>
            </a:r>
            <a:r>
              <a:rPr lang="en" sz="6000" dirty="0" err="1">
                <a:solidFill>
                  <a:schemeClr val="accent1"/>
                </a:solidFill>
                <a:latin typeface="Impact" panose="020B0806030902050204" pitchFamily="34" charset="0"/>
              </a:rPr>
              <a:t>tinggi</a:t>
            </a:r>
            <a:r>
              <a:rPr lang="en" sz="6000" dirty="0">
                <a:solidFill>
                  <a:schemeClr val="accent1"/>
                </a:solidFill>
                <a:latin typeface="Impact" panose="020B0806030902050204" pitchFamily="34" charset="0"/>
              </a:rPr>
              <a:t>, </a:t>
            </a:r>
            <a:br>
              <a:rPr lang="en" sz="6000" dirty="0">
                <a:solidFill>
                  <a:schemeClr val="accent1"/>
                </a:solidFill>
                <a:latin typeface="Impact" panose="020B0806030902050204" pitchFamily="34" charset="0"/>
              </a:rPr>
            </a:br>
            <a:r>
              <a:rPr lang="en" sz="6000" dirty="0">
                <a:solidFill>
                  <a:schemeClr val="accent1"/>
                </a:solidFill>
                <a:latin typeface="Impact" panose="020B0806030902050204" pitchFamily="34" charset="0"/>
              </a:rPr>
              <a:t>Perusahaan </a:t>
            </a:r>
            <a:r>
              <a:rPr lang="en" sz="6000" dirty="0">
                <a:solidFill>
                  <a:srgbClr val="FF0000"/>
                </a:solidFill>
                <a:latin typeface="Impact" panose="020B0806030902050204" pitchFamily="34" charset="0"/>
              </a:rPr>
              <a:t>OVER</a:t>
            </a:r>
            <a:r>
              <a:rPr lang="en" sz="6000" dirty="0">
                <a:solidFill>
                  <a:schemeClr val="accent1"/>
                </a:solidFill>
                <a:latin typeface="Impact" panose="020B0806030902050204" pitchFamily="34" charset="0"/>
              </a:rPr>
              <a:t>?</a:t>
            </a:r>
            <a:endParaRPr sz="60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BAC096B-B7AB-176D-6B9B-E677DEF7EFC3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30180" r="30180"/>
          <a:stretch>
            <a:fillRect/>
          </a:stretch>
        </p:blipFill>
        <p:spPr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>
            <a:spLocks noGrp="1"/>
          </p:cNvSpPr>
          <p:nvPr>
            <p:ph type="title"/>
          </p:nvPr>
        </p:nvSpPr>
        <p:spPr>
          <a:xfrm>
            <a:off x="304800" y="1282933"/>
            <a:ext cx="4204400" cy="256840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sz="8000" dirty="0"/>
              <a:t>Table of </a:t>
            </a:r>
            <a:r>
              <a:rPr lang="en" sz="8000" dirty="0">
                <a:solidFill>
                  <a:srgbClr val="FF0000"/>
                </a:solidFill>
              </a:rPr>
              <a:t>contents</a:t>
            </a:r>
            <a:endParaRPr sz="8000" dirty="0">
              <a:solidFill>
                <a:srgbClr val="FF0000"/>
              </a:solidFill>
            </a:endParaRPr>
          </a:p>
        </p:txBody>
      </p:sp>
      <p:sp>
        <p:nvSpPr>
          <p:cNvPr id="176" name="Google Shape;176;p29"/>
          <p:cNvSpPr txBox="1">
            <a:spLocks noGrp="1"/>
          </p:cNvSpPr>
          <p:nvPr>
            <p:ph type="title" idx="2"/>
          </p:nvPr>
        </p:nvSpPr>
        <p:spPr>
          <a:xfrm>
            <a:off x="4644699" y="1300592"/>
            <a:ext cx="1617877" cy="53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01</a:t>
            </a:r>
            <a:endParaRPr dirty="0"/>
          </a:p>
        </p:txBody>
      </p:sp>
      <p:sp>
        <p:nvSpPr>
          <p:cNvPr id="177" name="Google Shape;177;p29"/>
          <p:cNvSpPr txBox="1">
            <a:spLocks noGrp="1"/>
          </p:cNvSpPr>
          <p:nvPr>
            <p:ph type="title" idx="3"/>
          </p:nvPr>
        </p:nvSpPr>
        <p:spPr>
          <a:xfrm>
            <a:off x="4644699" y="2654574"/>
            <a:ext cx="1617877" cy="53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03</a:t>
            </a:r>
            <a:endParaRPr dirty="0"/>
          </a:p>
        </p:txBody>
      </p:sp>
      <p:sp>
        <p:nvSpPr>
          <p:cNvPr id="178" name="Google Shape;178;p29"/>
          <p:cNvSpPr txBox="1">
            <a:spLocks noGrp="1"/>
          </p:cNvSpPr>
          <p:nvPr>
            <p:ph type="title" idx="4"/>
          </p:nvPr>
        </p:nvSpPr>
        <p:spPr>
          <a:xfrm>
            <a:off x="4644699" y="1978077"/>
            <a:ext cx="1617877" cy="53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02</a:t>
            </a:r>
            <a:endParaRPr dirty="0"/>
          </a:p>
        </p:txBody>
      </p:sp>
      <p:sp>
        <p:nvSpPr>
          <p:cNvPr id="179" name="Google Shape;179;p29"/>
          <p:cNvSpPr txBox="1">
            <a:spLocks noGrp="1"/>
          </p:cNvSpPr>
          <p:nvPr>
            <p:ph type="title" idx="5"/>
          </p:nvPr>
        </p:nvSpPr>
        <p:spPr>
          <a:xfrm>
            <a:off x="4644699" y="3331060"/>
            <a:ext cx="1617877" cy="53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04</a:t>
            </a:r>
            <a:endParaRPr dirty="0"/>
          </a:p>
        </p:txBody>
      </p:sp>
      <p:sp>
        <p:nvSpPr>
          <p:cNvPr id="180" name="Google Shape;180;p29"/>
          <p:cNvSpPr txBox="1">
            <a:spLocks noGrp="1"/>
          </p:cNvSpPr>
          <p:nvPr>
            <p:ph type="subTitle" idx="1"/>
          </p:nvPr>
        </p:nvSpPr>
        <p:spPr>
          <a:xfrm>
            <a:off x="6095999" y="1379321"/>
            <a:ext cx="3866707" cy="53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marL="0" indent="0"/>
            <a:r>
              <a:rPr lang="en" sz="3200" dirty="0"/>
              <a:t>Problem Statement</a:t>
            </a:r>
            <a:endParaRPr sz="3200" dirty="0"/>
          </a:p>
        </p:txBody>
      </p:sp>
      <p:sp>
        <p:nvSpPr>
          <p:cNvPr id="181" name="Google Shape;181;p29"/>
          <p:cNvSpPr txBox="1">
            <a:spLocks noGrp="1"/>
          </p:cNvSpPr>
          <p:nvPr>
            <p:ph type="subTitle" idx="6"/>
          </p:nvPr>
        </p:nvSpPr>
        <p:spPr>
          <a:xfrm>
            <a:off x="6096000" y="2663567"/>
            <a:ext cx="6229600" cy="53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marL="0" indent="0"/>
            <a:r>
              <a:rPr lang="en-US" sz="3600" dirty="0"/>
              <a:t>Data Preparation</a:t>
            </a:r>
            <a:endParaRPr sz="3600" dirty="0"/>
          </a:p>
        </p:txBody>
      </p:sp>
      <p:sp>
        <p:nvSpPr>
          <p:cNvPr id="182" name="Google Shape;182;p29"/>
          <p:cNvSpPr txBox="1">
            <a:spLocks noGrp="1"/>
          </p:cNvSpPr>
          <p:nvPr>
            <p:ph type="subTitle" idx="7"/>
          </p:nvPr>
        </p:nvSpPr>
        <p:spPr>
          <a:xfrm>
            <a:off x="6096000" y="2018341"/>
            <a:ext cx="3866706" cy="53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marL="0" indent="0"/>
            <a:r>
              <a:rPr lang="en-US" sz="3200" dirty="0"/>
              <a:t>Data Understanding</a:t>
            </a:r>
            <a:endParaRPr sz="3200" dirty="0"/>
          </a:p>
        </p:txBody>
      </p:sp>
      <p:sp>
        <p:nvSpPr>
          <p:cNvPr id="183" name="Google Shape;183;p29"/>
          <p:cNvSpPr txBox="1">
            <a:spLocks noGrp="1"/>
          </p:cNvSpPr>
          <p:nvPr>
            <p:ph type="subTitle" idx="8"/>
          </p:nvPr>
        </p:nvSpPr>
        <p:spPr>
          <a:xfrm>
            <a:off x="6096000" y="3323497"/>
            <a:ext cx="6229600" cy="53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marL="0" indent="0"/>
            <a:r>
              <a:rPr lang="en-US" sz="3600" dirty="0"/>
              <a:t>Dashboard</a:t>
            </a:r>
            <a:endParaRPr sz="3600" dirty="0"/>
          </a:p>
        </p:txBody>
      </p:sp>
      <p:sp>
        <p:nvSpPr>
          <p:cNvPr id="184" name="Google Shape;184;p29"/>
          <p:cNvSpPr txBox="1">
            <a:spLocks noGrp="1"/>
          </p:cNvSpPr>
          <p:nvPr>
            <p:ph type="title" idx="9"/>
          </p:nvPr>
        </p:nvSpPr>
        <p:spPr>
          <a:xfrm>
            <a:off x="4644699" y="4008557"/>
            <a:ext cx="1617877" cy="53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05</a:t>
            </a:r>
            <a:endParaRPr dirty="0"/>
          </a:p>
        </p:txBody>
      </p:sp>
      <p:sp>
        <p:nvSpPr>
          <p:cNvPr id="188" name="Google Shape;188;p29"/>
          <p:cNvSpPr txBox="1">
            <a:spLocks noGrp="1"/>
          </p:cNvSpPr>
          <p:nvPr>
            <p:ph type="subTitle" idx="16"/>
          </p:nvPr>
        </p:nvSpPr>
        <p:spPr>
          <a:xfrm>
            <a:off x="6096000" y="4008557"/>
            <a:ext cx="6229600" cy="53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marL="0" indent="0"/>
            <a:r>
              <a:rPr lang="en" sz="3600" dirty="0"/>
              <a:t>Conclusion</a:t>
            </a:r>
            <a:endParaRPr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4778000" cy="336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sz="7200" dirty="0">
                <a:solidFill>
                  <a:srgbClr val="FF0000"/>
                </a:solidFill>
                <a:latin typeface="Impact" panose="020B0806030902050204" pitchFamily="34" charset="0"/>
              </a:rPr>
              <a:t>Problem</a:t>
            </a:r>
            <a:br>
              <a:rPr lang="en" sz="7200" dirty="0">
                <a:solidFill>
                  <a:schemeClr val="accent1"/>
                </a:solidFill>
                <a:latin typeface="Impact" panose="020B0806030902050204" pitchFamily="34" charset="0"/>
              </a:rPr>
            </a:br>
            <a:r>
              <a:rPr lang="en" sz="7200" dirty="0">
                <a:solidFill>
                  <a:schemeClr val="accent1"/>
                </a:solidFill>
                <a:latin typeface="Impact" panose="020B0806030902050204" pitchFamily="34" charset="0"/>
              </a:rPr>
              <a:t>Statement</a:t>
            </a:r>
            <a:endParaRPr sz="72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  <p:sp>
        <p:nvSpPr>
          <p:cNvPr id="197" name="Google Shape;197;p30"/>
          <p:cNvSpPr txBox="1">
            <a:spLocks noGrp="1"/>
          </p:cNvSpPr>
          <p:nvPr>
            <p:ph type="subTitle" idx="1"/>
          </p:nvPr>
        </p:nvSpPr>
        <p:spPr>
          <a:xfrm>
            <a:off x="4657076" y="559582"/>
            <a:ext cx="7272637" cy="254472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ID" sz="2000" dirty="0" err="1">
                <a:latin typeface="Century" panose="02040604050505020304" pitchFamily="18" charset="0"/>
              </a:rPr>
              <a:t>Fenomena</a:t>
            </a:r>
            <a:r>
              <a:rPr lang="en-ID" sz="2000" dirty="0">
                <a:latin typeface="Century" panose="02040604050505020304" pitchFamily="18" charset="0"/>
              </a:rPr>
              <a:t> yang </a:t>
            </a:r>
            <a:r>
              <a:rPr lang="en-ID" sz="2000" dirty="0" err="1">
                <a:latin typeface="Century" panose="02040604050505020304" pitchFamily="18" charset="0"/>
              </a:rPr>
              <a:t>dikenal</a:t>
            </a:r>
            <a:r>
              <a:rPr lang="en-ID" sz="2000" dirty="0">
                <a:latin typeface="Century" panose="02040604050505020304" pitchFamily="18" charset="0"/>
              </a:rPr>
              <a:t> </a:t>
            </a:r>
            <a:r>
              <a:rPr lang="en-ID" sz="2000" dirty="0" err="1">
                <a:latin typeface="Century" panose="02040604050505020304" pitchFamily="18" charset="0"/>
              </a:rPr>
              <a:t>sebagai</a:t>
            </a:r>
            <a:r>
              <a:rPr lang="en-ID" sz="2000" dirty="0">
                <a:latin typeface="Century" panose="02040604050505020304" pitchFamily="18" charset="0"/>
              </a:rPr>
              <a:t> </a:t>
            </a:r>
            <a:r>
              <a:rPr lang="en-ID" sz="2000" dirty="0" err="1">
                <a:latin typeface="Century" panose="02040604050505020304" pitchFamily="18" charset="0"/>
              </a:rPr>
              <a:t>pergantian</a:t>
            </a:r>
            <a:r>
              <a:rPr lang="en-ID" sz="2000" dirty="0">
                <a:latin typeface="Century" panose="02040604050505020304" pitchFamily="18" charset="0"/>
              </a:rPr>
              <a:t> </a:t>
            </a:r>
            <a:r>
              <a:rPr lang="en-ID" sz="2000" dirty="0" err="1">
                <a:latin typeface="Century" panose="02040604050505020304" pitchFamily="18" charset="0"/>
              </a:rPr>
              <a:t>karyawan</a:t>
            </a:r>
            <a:r>
              <a:rPr lang="en-ID" sz="2000" dirty="0">
                <a:latin typeface="Century" panose="02040604050505020304" pitchFamily="18" charset="0"/>
              </a:rPr>
              <a:t> (*employee turnover*) </a:t>
            </a:r>
            <a:r>
              <a:rPr lang="en-ID" sz="2000" dirty="0" err="1">
                <a:latin typeface="Century" panose="02040604050505020304" pitchFamily="18" charset="0"/>
              </a:rPr>
              <a:t>terjadi</a:t>
            </a:r>
            <a:r>
              <a:rPr lang="en-ID" sz="2000" dirty="0">
                <a:latin typeface="Century" panose="02040604050505020304" pitchFamily="18" charset="0"/>
              </a:rPr>
              <a:t> </a:t>
            </a:r>
            <a:r>
              <a:rPr lang="en-ID" sz="2000" dirty="0" err="1">
                <a:latin typeface="Century" panose="02040604050505020304" pitchFamily="18" charset="0"/>
              </a:rPr>
              <a:t>ketika</a:t>
            </a:r>
            <a:r>
              <a:rPr lang="en-ID" sz="2000" dirty="0">
                <a:latin typeface="Century" panose="02040604050505020304" pitchFamily="18" charset="0"/>
              </a:rPr>
              <a:t> </a:t>
            </a:r>
            <a:r>
              <a:rPr lang="en-ID" sz="2000" dirty="0" err="1">
                <a:latin typeface="Century" panose="02040604050505020304" pitchFamily="18" charset="0"/>
              </a:rPr>
              <a:t>pekerja</a:t>
            </a:r>
            <a:r>
              <a:rPr lang="en-ID" sz="2000" dirty="0">
                <a:latin typeface="Century" panose="02040604050505020304" pitchFamily="18" charset="0"/>
              </a:rPr>
              <a:t> </a:t>
            </a:r>
            <a:r>
              <a:rPr lang="en-ID" sz="2000" dirty="0" err="1">
                <a:latin typeface="Century" panose="02040604050505020304" pitchFamily="18" charset="0"/>
              </a:rPr>
              <a:t>meninggalkan</a:t>
            </a:r>
            <a:r>
              <a:rPr lang="en-ID" sz="2000" dirty="0">
                <a:latin typeface="Century" panose="02040604050505020304" pitchFamily="18" charset="0"/>
              </a:rPr>
              <a:t> </a:t>
            </a:r>
            <a:r>
              <a:rPr lang="en-ID" sz="2000" dirty="0" err="1">
                <a:latin typeface="Century" panose="02040604050505020304" pitchFamily="18" charset="0"/>
              </a:rPr>
              <a:t>perusahaan</a:t>
            </a:r>
            <a:r>
              <a:rPr lang="en-ID" sz="2000" dirty="0">
                <a:latin typeface="Century" panose="02040604050505020304" pitchFamily="18" charset="0"/>
              </a:rPr>
              <a:t>, </a:t>
            </a:r>
            <a:r>
              <a:rPr lang="en-ID" sz="2000" dirty="0" err="1">
                <a:latin typeface="Century" panose="02040604050505020304" pitchFamily="18" charset="0"/>
              </a:rPr>
              <a:t>sehingga</a:t>
            </a:r>
            <a:r>
              <a:rPr lang="en-ID" sz="2000" dirty="0">
                <a:latin typeface="Century" panose="02040604050505020304" pitchFamily="18" charset="0"/>
              </a:rPr>
              <a:t> </a:t>
            </a:r>
            <a:r>
              <a:rPr lang="en-ID" sz="2000" dirty="0" err="1">
                <a:latin typeface="Century" panose="02040604050505020304" pitchFamily="18" charset="0"/>
              </a:rPr>
              <a:t>perusahaan</a:t>
            </a:r>
            <a:r>
              <a:rPr lang="en-ID" sz="2000" dirty="0">
                <a:latin typeface="Century" panose="02040604050505020304" pitchFamily="18" charset="0"/>
              </a:rPr>
              <a:t> </a:t>
            </a:r>
            <a:r>
              <a:rPr lang="en-ID" sz="2000" dirty="0" err="1">
                <a:latin typeface="Century" panose="02040604050505020304" pitchFamily="18" charset="0"/>
              </a:rPr>
              <a:t>mengharuskan</a:t>
            </a:r>
            <a:r>
              <a:rPr lang="en-ID" sz="2000" dirty="0">
                <a:latin typeface="Century" panose="02040604050505020304" pitchFamily="18" charset="0"/>
              </a:rPr>
              <a:t> </a:t>
            </a:r>
            <a:r>
              <a:rPr lang="en-ID" sz="2000" dirty="0" err="1">
                <a:latin typeface="Century" panose="02040604050505020304" pitchFamily="18" charset="0"/>
              </a:rPr>
              <a:t>melakukan</a:t>
            </a:r>
            <a:r>
              <a:rPr lang="en-ID" sz="2000" dirty="0">
                <a:latin typeface="Century" panose="02040604050505020304" pitchFamily="18" charset="0"/>
              </a:rPr>
              <a:t> </a:t>
            </a:r>
            <a:r>
              <a:rPr lang="en-ID" sz="2000" dirty="0" err="1">
                <a:latin typeface="Century" panose="02040604050505020304" pitchFamily="18" charset="0"/>
              </a:rPr>
              <a:t>perekrutan</a:t>
            </a:r>
            <a:r>
              <a:rPr lang="en-ID" sz="2000" dirty="0">
                <a:latin typeface="Century" panose="02040604050505020304" pitchFamily="18" charset="0"/>
              </a:rPr>
              <a:t> </a:t>
            </a:r>
            <a:r>
              <a:rPr lang="en-ID" sz="2000" dirty="0" err="1">
                <a:latin typeface="Century" panose="02040604050505020304" pitchFamily="18" charset="0"/>
              </a:rPr>
              <a:t>karyawan</a:t>
            </a:r>
            <a:r>
              <a:rPr lang="en-ID" sz="2000" dirty="0">
                <a:latin typeface="Century" panose="02040604050505020304" pitchFamily="18" charset="0"/>
              </a:rPr>
              <a:t> </a:t>
            </a:r>
            <a:r>
              <a:rPr lang="en-ID" sz="2000" dirty="0" err="1">
                <a:latin typeface="Century" panose="02040604050505020304" pitchFamily="18" charset="0"/>
              </a:rPr>
              <a:t>baru</a:t>
            </a:r>
            <a:r>
              <a:rPr lang="en-ID" sz="2000" dirty="0">
                <a:latin typeface="Century" panose="02040604050505020304" pitchFamily="18" charset="0"/>
              </a:rPr>
              <a:t> </a:t>
            </a:r>
            <a:r>
              <a:rPr lang="en-ID" sz="2000" dirty="0" err="1">
                <a:latin typeface="Century" panose="02040604050505020304" pitchFamily="18" charset="0"/>
              </a:rPr>
              <a:t>untuk</a:t>
            </a:r>
            <a:r>
              <a:rPr lang="en-ID" sz="2000" dirty="0">
                <a:latin typeface="Century" panose="02040604050505020304" pitchFamily="18" charset="0"/>
              </a:rPr>
              <a:t> </a:t>
            </a:r>
            <a:r>
              <a:rPr lang="en-ID" sz="2000" dirty="0" err="1">
                <a:latin typeface="Century" panose="02040604050505020304" pitchFamily="18" charset="0"/>
              </a:rPr>
              <a:t>mengisi</a:t>
            </a:r>
            <a:r>
              <a:rPr lang="en-ID" sz="2000" dirty="0">
                <a:latin typeface="Century" panose="02040604050505020304" pitchFamily="18" charset="0"/>
              </a:rPr>
              <a:t> </a:t>
            </a:r>
            <a:r>
              <a:rPr lang="en-ID" sz="2000" dirty="0" err="1">
                <a:latin typeface="Century" panose="02040604050505020304" pitchFamily="18" charset="0"/>
              </a:rPr>
              <a:t>posisi</a:t>
            </a:r>
            <a:r>
              <a:rPr lang="en-ID" sz="2000" dirty="0">
                <a:latin typeface="Century" panose="02040604050505020304" pitchFamily="18" charset="0"/>
              </a:rPr>
              <a:t> </a:t>
            </a:r>
            <a:r>
              <a:rPr lang="en-ID" sz="2000" dirty="0" err="1">
                <a:latin typeface="Century" panose="02040604050505020304" pitchFamily="18" charset="0"/>
              </a:rPr>
              <a:t>mereka</a:t>
            </a:r>
            <a:r>
              <a:rPr lang="en-ID" sz="2000" dirty="0">
                <a:latin typeface="Century" panose="02040604050505020304" pitchFamily="18" charset="0"/>
              </a:rPr>
              <a:t>. </a:t>
            </a:r>
            <a:endParaRPr sz="2000" dirty="0">
              <a:latin typeface="Century" panose="020406040505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D1DB1B-6CDE-1074-0FE5-BB1CF327A1BF}"/>
              </a:ext>
            </a:extLst>
          </p:cNvPr>
          <p:cNvSpPr txBox="1"/>
          <p:nvPr/>
        </p:nvSpPr>
        <p:spPr>
          <a:xfrm>
            <a:off x="552893" y="3666000"/>
            <a:ext cx="34024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Berapa</a:t>
            </a:r>
            <a:r>
              <a:rPr lang="en-US" sz="2000" dirty="0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banyak</a:t>
            </a:r>
            <a:r>
              <a:rPr lang="en-US" sz="2000" dirty="0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karyawan</a:t>
            </a:r>
            <a:endParaRPr lang="en-US" sz="2000" dirty="0">
              <a:solidFill>
                <a:schemeClr val="bg1"/>
              </a:solidFill>
              <a:highlight>
                <a:srgbClr val="FF0000"/>
              </a:highlight>
              <a:latin typeface="Century" panose="02040604050505020304" pitchFamily="18" charset="0"/>
            </a:endParaRPr>
          </a:p>
          <a:p>
            <a:pPr algn="ctr"/>
            <a:r>
              <a:rPr lang="en-US" sz="2000" dirty="0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 yang </a:t>
            </a:r>
            <a:r>
              <a:rPr lang="en-US" sz="2000" dirty="0" err="1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keluar</a:t>
            </a:r>
            <a:r>
              <a:rPr lang="en-US" sz="2000" dirty="0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setiap</a:t>
            </a:r>
            <a:r>
              <a:rPr lang="en-US" sz="2000" dirty="0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 department </a:t>
            </a:r>
            <a:r>
              <a:rPr lang="en-US" sz="2000" dirty="0" err="1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nya</a:t>
            </a:r>
            <a:r>
              <a:rPr lang="en-US" sz="2000" dirty="0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3CD2E6-1D65-38A8-59D9-EDCAC6997E54}"/>
              </a:ext>
            </a:extLst>
          </p:cNvPr>
          <p:cNvSpPr txBox="1"/>
          <p:nvPr/>
        </p:nvSpPr>
        <p:spPr>
          <a:xfrm>
            <a:off x="3955312" y="4789384"/>
            <a:ext cx="34981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Divisi </a:t>
            </a:r>
            <a:r>
              <a:rPr lang="en-US" sz="2000" dirty="0" err="1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apa</a:t>
            </a:r>
            <a:r>
              <a:rPr lang="en-US" sz="2000" dirty="0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 yang sangat </a:t>
            </a:r>
            <a:r>
              <a:rPr lang="en-US" sz="2000" dirty="0" err="1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dipengaruhi</a:t>
            </a:r>
            <a:r>
              <a:rPr lang="en-US" sz="2000" dirty="0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 oleh </a:t>
            </a:r>
            <a:r>
              <a:rPr lang="en-US" sz="2000" dirty="0" err="1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fenomena</a:t>
            </a:r>
            <a:r>
              <a:rPr lang="en-US" sz="2000" dirty="0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 turnover </a:t>
            </a:r>
            <a:r>
              <a:rPr lang="en-US" sz="2000" dirty="0" err="1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tersebut</a:t>
            </a:r>
            <a:r>
              <a:rPr lang="en-US" sz="2000" dirty="0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056AE4-0B24-F4BC-C7A4-59BBE24129A6}"/>
              </a:ext>
            </a:extLst>
          </p:cNvPr>
          <p:cNvSpPr txBox="1"/>
          <p:nvPr/>
        </p:nvSpPr>
        <p:spPr>
          <a:xfrm>
            <a:off x="8293395" y="3666000"/>
            <a:ext cx="31047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Apakah</a:t>
            </a:r>
            <a:r>
              <a:rPr lang="en-US" sz="2000" dirty="0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pekerja</a:t>
            </a:r>
            <a:r>
              <a:rPr lang="en-US" sz="2000" dirty="0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 yang </a:t>
            </a:r>
            <a:r>
              <a:rPr lang="en-US" sz="2000" dirty="0" err="1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meninggalkan</a:t>
            </a:r>
            <a:r>
              <a:rPr lang="en-US" sz="2000" dirty="0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perusahaan</a:t>
            </a:r>
            <a:r>
              <a:rPr lang="en-US" sz="2000" dirty="0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merupakan</a:t>
            </a:r>
            <a:r>
              <a:rPr lang="en-US" sz="2000" dirty="0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pekerja</a:t>
            </a:r>
            <a:r>
              <a:rPr lang="en-US" sz="2000" dirty="0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 yang </a:t>
            </a:r>
            <a:r>
              <a:rPr lang="en-US" sz="2000" dirty="0" err="1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berkualitas</a:t>
            </a:r>
            <a:r>
              <a:rPr lang="en-US" sz="2000" dirty="0">
                <a:solidFill>
                  <a:schemeClr val="bg1"/>
                </a:solidFill>
                <a:highlight>
                  <a:srgbClr val="FF0000"/>
                </a:highlight>
                <a:latin typeface="Century" panose="02040604050505020304" pitchFamily="18" charset="0"/>
              </a:rPr>
              <a:t>?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" grpId="0"/>
      <p:bldP spid="197" grpId="0" build="p"/>
      <p:bldP spid="4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6;p30">
            <a:extLst>
              <a:ext uri="{FF2B5EF4-FFF2-40B4-BE49-F238E27FC236}">
                <a16:creationId xmlns:a16="http://schemas.microsoft.com/office/drawing/2014/main" id="{89D13D34-C434-FF09-85DA-DD5B0FD83DFC}"/>
              </a:ext>
            </a:extLst>
          </p:cNvPr>
          <p:cNvSpPr txBox="1">
            <a:spLocks/>
          </p:cNvSpPr>
          <p:nvPr/>
        </p:nvSpPr>
        <p:spPr>
          <a:xfrm>
            <a:off x="304800" y="304800"/>
            <a:ext cx="11667460" cy="104553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D" sz="7200" dirty="0">
                <a:solidFill>
                  <a:schemeClr val="accent1"/>
                </a:solidFill>
                <a:latin typeface="Impact" panose="020B0806030902050204" pitchFamily="34" charset="0"/>
              </a:rPr>
              <a:t>Data Understanding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93FFE-FD6C-8199-A8A6-C51306881F1A}"/>
              </a:ext>
            </a:extLst>
          </p:cNvPr>
          <p:cNvSpPr txBox="1"/>
          <p:nvPr/>
        </p:nvSpPr>
        <p:spPr>
          <a:xfrm>
            <a:off x="616079" y="3944679"/>
            <a:ext cx="3796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entury" panose="02040604050505020304" pitchFamily="18" charset="0"/>
              </a:rPr>
              <a:t>Dataset: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entury" panose="02040604050505020304" pitchFamily="18" charset="0"/>
              </a:rPr>
              <a:t>Employee Dataset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9F78FB-0838-8055-DF9F-2CB94AF11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429" y="1436832"/>
            <a:ext cx="3796431" cy="2209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B862A0-CAA0-EE1A-6FC9-339B72326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860" y="1436832"/>
            <a:ext cx="6375400" cy="2222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7997345-A9FC-36B3-018A-60F325132EB6}"/>
              </a:ext>
            </a:extLst>
          </p:cNvPr>
          <p:cNvSpPr txBox="1"/>
          <p:nvPr/>
        </p:nvSpPr>
        <p:spPr>
          <a:xfrm>
            <a:off x="3851905" y="3944679"/>
            <a:ext cx="3796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" panose="02040604050505020304" pitchFamily="18" charset="0"/>
              </a:rPr>
              <a:t>Main Indicator: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" panose="02040604050505020304" pitchFamily="18" charset="0"/>
              </a:rPr>
              <a:t>Start &amp; Exit Date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A2A61CF-D536-7875-FBD1-C576EB4BF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740" y="1436832"/>
            <a:ext cx="1580689" cy="22225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D0742FA-93F1-ABF0-7277-0BBED44D08D6}"/>
              </a:ext>
            </a:extLst>
          </p:cNvPr>
          <p:cNvSpPr txBox="1"/>
          <p:nvPr/>
        </p:nvSpPr>
        <p:spPr>
          <a:xfrm>
            <a:off x="7452816" y="3944679"/>
            <a:ext cx="37964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entury" panose="02040604050505020304" pitchFamily="18" charset="0"/>
              </a:rPr>
              <a:t>Supporting Indicator: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entury" panose="02040604050505020304" pitchFamily="18" charset="0"/>
              </a:rPr>
              <a:t>Department type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entury" panose="02040604050505020304" pitchFamily="18" charset="0"/>
              </a:rPr>
              <a:t>Division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entury" panose="02040604050505020304" pitchFamily="18" charset="0"/>
              </a:rPr>
              <a:t>DOB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entury" panose="02040604050505020304" pitchFamily="18" charset="0"/>
              </a:rPr>
              <a:t>Employee Rating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entury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entury" panose="020406040505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6AF23E-9523-4D2B-4E74-E8722FC67C24}"/>
              </a:ext>
            </a:extLst>
          </p:cNvPr>
          <p:cNvSpPr txBox="1"/>
          <p:nvPr/>
        </p:nvSpPr>
        <p:spPr>
          <a:xfrm>
            <a:off x="616080" y="5081154"/>
            <a:ext cx="37964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entury" panose="02040604050505020304" pitchFamily="18" charset="0"/>
              </a:rPr>
              <a:t>Dataset EDA Results: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Century" panose="02040604050505020304" pitchFamily="18" charset="0"/>
              </a:rPr>
              <a:t>Pisahkan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karyawan</a:t>
            </a:r>
            <a:r>
              <a:rPr lang="en-US" dirty="0">
                <a:latin typeface="Century" panose="02040604050505020304" pitchFamily="18" charset="0"/>
              </a:rPr>
              <a:t> yang </a:t>
            </a:r>
            <a:r>
              <a:rPr lang="en-US" dirty="0" err="1">
                <a:latin typeface="Century" panose="02040604050505020304" pitchFamily="18" charset="0"/>
              </a:rPr>
              <a:t>mempunyai</a:t>
            </a:r>
            <a:r>
              <a:rPr lang="en-US" dirty="0">
                <a:latin typeface="Century" panose="02040604050505020304" pitchFamily="18" charset="0"/>
              </a:rPr>
              <a:t> Start &amp; Exit Date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entury" panose="02040604050505020304" pitchFamily="18" charset="0"/>
              </a:rPr>
              <a:t>No data inconsistency</a:t>
            </a:r>
          </a:p>
        </p:txBody>
      </p:sp>
    </p:spTree>
    <p:extLst>
      <p:ext uri="{BB962C8B-B14F-4D97-AF65-F5344CB8AC3E}">
        <p14:creationId xmlns:p14="http://schemas.microsoft.com/office/powerpoint/2010/main" val="29613834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5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6;p30">
            <a:extLst>
              <a:ext uri="{FF2B5EF4-FFF2-40B4-BE49-F238E27FC236}">
                <a16:creationId xmlns:a16="http://schemas.microsoft.com/office/drawing/2014/main" id="{00B25FA9-9F05-004A-DAC0-7CA8B0C41F25}"/>
              </a:ext>
            </a:extLst>
          </p:cNvPr>
          <p:cNvSpPr txBox="1">
            <a:spLocks/>
          </p:cNvSpPr>
          <p:nvPr/>
        </p:nvSpPr>
        <p:spPr>
          <a:xfrm>
            <a:off x="304800" y="304800"/>
            <a:ext cx="11667460" cy="104553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D" sz="7200" dirty="0">
                <a:solidFill>
                  <a:schemeClr val="accent1"/>
                </a:solidFill>
                <a:latin typeface="Impact" panose="020B0806030902050204" pitchFamily="34" charset="0"/>
              </a:rPr>
              <a:t>Data Preparation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DD2E77-1EEB-F9B4-196F-C07528F10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820" y="1597077"/>
            <a:ext cx="5268097" cy="13748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95692D-FC61-6227-2999-94B5A6CDF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821" y="4827497"/>
            <a:ext cx="5268096" cy="12811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C571BA-2B0B-6191-CDBF-6FD40224F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821" y="3118317"/>
            <a:ext cx="5268096" cy="1535496"/>
          </a:xfrm>
          <a:prstGeom prst="rect">
            <a:avLst/>
          </a:prstGeom>
        </p:spPr>
      </p:pic>
      <p:sp>
        <p:nvSpPr>
          <p:cNvPr id="9" name="Google Shape;197;p30">
            <a:extLst>
              <a:ext uri="{FF2B5EF4-FFF2-40B4-BE49-F238E27FC236}">
                <a16:creationId xmlns:a16="http://schemas.microsoft.com/office/drawing/2014/main" id="{8DE691CC-58E0-89DA-2EDC-96BD2CF67DA3}"/>
              </a:ext>
            </a:extLst>
          </p:cNvPr>
          <p:cNvSpPr txBox="1">
            <a:spLocks/>
          </p:cNvSpPr>
          <p:nvPr/>
        </p:nvSpPr>
        <p:spPr>
          <a:xfrm>
            <a:off x="219741" y="1350335"/>
            <a:ext cx="5760930" cy="475831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ID" sz="1600" dirty="0">
                <a:latin typeface="Century" panose="02040604050505020304" pitchFamily="18" charset="0"/>
              </a:rPr>
              <a:t>Langkah </a:t>
            </a:r>
            <a:r>
              <a:rPr lang="en-ID" sz="1600" dirty="0" err="1">
                <a:latin typeface="Century" panose="02040604050505020304" pitchFamily="18" charset="0"/>
              </a:rPr>
              <a:t>pertama</a:t>
            </a:r>
            <a:r>
              <a:rPr lang="en-ID" sz="1600" dirty="0">
                <a:latin typeface="Century" panose="02040604050505020304" pitchFamily="18" charset="0"/>
              </a:rPr>
              <a:t> </a:t>
            </a:r>
            <a:r>
              <a:rPr lang="en-ID" sz="1600" dirty="0" err="1">
                <a:latin typeface="Century" panose="02040604050505020304" pitchFamily="18" charset="0"/>
              </a:rPr>
              <a:t>adalah</a:t>
            </a:r>
            <a:r>
              <a:rPr lang="en-ID" sz="1600" dirty="0">
                <a:latin typeface="Century" panose="02040604050505020304" pitchFamily="18" charset="0"/>
              </a:rPr>
              <a:t> </a:t>
            </a:r>
            <a:r>
              <a:rPr lang="en-ID" sz="1600" dirty="0" err="1">
                <a:latin typeface="Century" panose="02040604050505020304" pitchFamily="18" charset="0"/>
              </a:rPr>
              <a:t>menemukan</a:t>
            </a:r>
            <a:r>
              <a:rPr lang="en-ID" sz="1600" dirty="0">
                <a:latin typeface="Century" panose="02040604050505020304" pitchFamily="18" charset="0"/>
              </a:rPr>
              <a:t> </a:t>
            </a:r>
            <a:r>
              <a:rPr lang="en-ID" sz="1600" dirty="0" err="1">
                <a:latin typeface="Century" panose="02040604050505020304" pitchFamily="18" charset="0"/>
              </a:rPr>
              <a:t>duplikasi</a:t>
            </a:r>
            <a:r>
              <a:rPr lang="en-ID" sz="1600" dirty="0">
                <a:latin typeface="Century" panose="02040604050505020304" pitchFamily="18" charset="0"/>
              </a:rPr>
              <a:t> data, </a:t>
            </a:r>
            <a:r>
              <a:rPr lang="en-ID" sz="1600" dirty="0" err="1">
                <a:latin typeface="Century" panose="02040604050505020304" pitchFamily="18" charset="0"/>
              </a:rPr>
              <a:t>khususnya</a:t>
            </a:r>
            <a:r>
              <a:rPr lang="en-ID" sz="1600" dirty="0">
                <a:latin typeface="Century" panose="02040604050505020304" pitchFamily="18" charset="0"/>
              </a:rPr>
              <a:t> pada data </a:t>
            </a:r>
            <a:r>
              <a:rPr lang="en-ID" sz="1600" dirty="0" err="1">
                <a:latin typeface="Century" panose="02040604050505020304" pitchFamily="18" charset="0"/>
              </a:rPr>
              <a:t>Tanggal</a:t>
            </a:r>
            <a:r>
              <a:rPr lang="en-ID" sz="1600" dirty="0">
                <a:latin typeface="Century" panose="02040604050505020304" pitchFamily="18" charset="0"/>
              </a:rPr>
              <a:t> Lahir (DOB). </a:t>
            </a:r>
            <a:r>
              <a:rPr lang="en-ID" sz="1600" dirty="0" err="1">
                <a:latin typeface="Century" panose="02040604050505020304" pitchFamily="18" charset="0"/>
              </a:rPr>
              <a:t>Sebanyak</a:t>
            </a:r>
            <a:r>
              <a:rPr lang="en-ID" sz="1600" dirty="0">
                <a:latin typeface="Century" panose="02040604050505020304" pitchFamily="18" charset="0"/>
              </a:rPr>
              <a:t> 106 data </a:t>
            </a:r>
            <a:r>
              <a:rPr lang="en-ID" sz="1600" dirty="0" err="1">
                <a:latin typeface="Century" panose="02040604050505020304" pitchFamily="18" charset="0"/>
              </a:rPr>
              <a:t>atau</a:t>
            </a:r>
            <a:r>
              <a:rPr lang="en-ID" sz="1600" dirty="0">
                <a:latin typeface="Century" panose="02040604050505020304" pitchFamily="18" charset="0"/>
              </a:rPr>
              <a:t> </a:t>
            </a:r>
            <a:r>
              <a:rPr lang="en-ID" sz="1600" dirty="0" err="1">
                <a:latin typeface="Century" panose="02040604050505020304" pitchFamily="18" charset="0"/>
              </a:rPr>
              <a:t>hampir</a:t>
            </a:r>
            <a:r>
              <a:rPr lang="en-ID" sz="1600" dirty="0">
                <a:latin typeface="Century" panose="02040604050505020304" pitchFamily="18" charset="0"/>
              </a:rPr>
              <a:t> 7% </a:t>
            </a:r>
            <a:r>
              <a:rPr lang="en-ID" sz="1600" dirty="0" err="1">
                <a:latin typeface="Century" panose="02040604050505020304" pitchFamily="18" charset="0"/>
              </a:rPr>
              <a:t>dari</a:t>
            </a:r>
            <a:r>
              <a:rPr lang="en-ID" sz="1600" dirty="0">
                <a:latin typeface="Century" panose="02040604050505020304" pitchFamily="18" charset="0"/>
              </a:rPr>
              <a:t> total data </a:t>
            </a:r>
            <a:r>
              <a:rPr lang="en-ID" sz="1600" dirty="0" err="1">
                <a:latin typeface="Century" panose="02040604050505020304" pitchFamily="18" charset="0"/>
              </a:rPr>
              <a:t>karyawan</a:t>
            </a:r>
            <a:r>
              <a:rPr lang="en-ID" sz="1600" dirty="0">
                <a:latin typeface="Century" panose="02040604050505020304" pitchFamily="18" charset="0"/>
              </a:rPr>
              <a:t> yang </a:t>
            </a:r>
            <a:r>
              <a:rPr lang="en-ID" sz="1600" dirty="0" err="1">
                <a:latin typeface="Century" panose="02040604050505020304" pitchFamily="18" charset="0"/>
              </a:rPr>
              <a:t>telah</a:t>
            </a:r>
            <a:r>
              <a:rPr lang="en-ID" sz="1600" dirty="0">
                <a:latin typeface="Century" panose="02040604050505020304" pitchFamily="18" charset="0"/>
              </a:rPr>
              <a:t> </a:t>
            </a:r>
            <a:r>
              <a:rPr lang="en-ID" sz="1600" dirty="0" err="1">
                <a:latin typeface="Century" panose="02040604050505020304" pitchFamily="18" charset="0"/>
              </a:rPr>
              <a:t>berhenti</a:t>
            </a:r>
            <a:r>
              <a:rPr lang="en-ID" sz="1600" dirty="0">
                <a:latin typeface="Century" panose="02040604050505020304" pitchFamily="18" charset="0"/>
              </a:rPr>
              <a:t>. </a:t>
            </a:r>
            <a:r>
              <a:rPr lang="en-ID" sz="1600" dirty="0" err="1">
                <a:latin typeface="Century" panose="02040604050505020304" pitchFamily="18" charset="0"/>
              </a:rPr>
              <a:t>Dengan</a:t>
            </a:r>
            <a:r>
              <a:rPr lang="en-ID" sz="1600" dirty="0">
                <a:latin typeface="Century" panose="02040604050505020304" pitchFamily="18" charset="0"/>
              </a:rPr>
              <a:t> </a:t>
            </a:r>
            <a:r>
              <a:rPr lang="en-ID" sz="1600" dirty="0" err="1">
                <a:latin typeface="Century" panose="02040604050505020304" pitchFamily="18" charset="0"/>
              </a:rPr>
              <a:t>mengelompokkan</a:t>
            </a:r>
            <a:r>
              <a:rPr lang="en-ID" sz="1600" dirty="0">
                <a:latin typeface="Century" panose="02040604050505020304" pitchFamily="18" charset="0"/>
              </a:rPr>
              <a:t> </a:t>
            </a:r>
            <a:r>
              <a:rPr lang="en-ID" sz="1600" dirty="0" err="1">
                <a:latin typeface="Century" panose="02040604050505020304" pitchFamily="18" charset="0"/>
              </a:rPr>
              <a:t>karyawan</a:t>
            </a:r>
            <a:r>
              <a:rPr lang="en-ID" sz="1600" dirty="0">
                <a:latin typeface="Century" panose="02040604050505020304" pitchFamily="18" charset="0"/>
              </a:rPr>
              <a:t> </a:t>
            </a:r>
            <a:r>
              <a:rPr lang="en-ID" sz="1600" dirty="0" err="1">
                <a:latin typeface="Century" panose="02040604050505020304" pitchFamily="18" charset="0"/>
              </a:rPr>
              <a:t>berdasarkan</a:t>
            </a:r>
            <a:r>
              <a:rPr lang="en-ID" sz="1600" dirty="0">
                <a:latin typeface="Century" panose="02040604050505020304" pitchFamily="18" charset="0"/>
              </a:rPr>
              <a:t> </a:t>
            </a:r>
            <a:r>
              <a:rPr lang="en-ID" sz="1600" i="1" dirty="0">
                <a:latin typeface="Century" panose="02040604050505020304" pitchFamily="18" charset="0"/>
              </a:rPr>
              <a:t>“Performance Score”</a:t>
            </a:r>
            <a:r>
              <a:rPr lang="en-ID" sz="1600" dirty="0">
                <a:latin typeface="Century" panose="02040604050505020304" pitchFamily="18" charset="0"/>
              </a:rPr>
              <a:t> dan </a:t>
            </a:r>
            <a:r>
              <a:rPr lang="en-ID" sz="1600" i="1" dirty="0">
                <a:latin typeface="Century" panose="02040604050505020304" pitchFamily="18" charset="0"/>
              </a:rPr>
              <a:t>“Current Employee Rating”, </a:t>
            </a:r>
            <a:r>
              <a:rPr lang="en-ID" sz="1600" dirty="0">
                <a:latin typeface="Century" panose="02040604050505020304" pitchFamily="18" charset="0"/>
              </a:rPr>
              <a:t>data </a:t>
            </a:r>
            <a:r>
              <a:rPr lang="en-ID" sz="1600" dirty="0" err="1">
                <a:latin typeface="Century" panose="02040604050505020304" pitchFamily="18" charset="0"/>
              </a:rPr>
              <a:t>diubah</a:t>
            </a:r>
            <a:r>
              <a:rPr lang="en-ID" sz="1600" dirty="0">
                <a:latin typeface="Century" panose="02040604050505020304" pitchFamily="18" charset="0"/>
              </a:rPr>
              <a:t> </a:t>
            </a:r>
            <a:r>
              <a:rPr lang="en-ID" sz="1600" dirty="0" err="1">
                <a:latin typeface="Century" panose="02040604050505020304" pitchFamily="18" charset="0"/>
              </a:rPr>
              <a:t>menjadi</a:t>
            </a:r>
            <a:r>
              <a:rPr lang="en-ID" sz="1600" dirty="0">
                <a:latin typeface="Century" panose="02040604050505020304" pitchFamily="18" charset="0"/>
              </a:rPr>
              <a:t> </a:t>
            </a:r>
            <a:r>
              <a:rPr lang="en-ID" sz="1600" dirty="0" err="1">
                <a:latin typeface="Century" panose="02040604050505020304" pitchFamily="18" charset="0"/>
              </a:rPr>
              <a:t>informasi</a:t>
            </a:r>
            <a:r>
              <a:rPr lang="en-ID" sz="1600" dirty="0">
                <a:latin typeface="Century" panose="02040604050505020304" pitchFamily="18" charset="0"/>
              </a:rPr>
              <a:t> </a:t>
            </a:r>
            <a:r>
              <a:rPr lang="en-ID" sz="1600" dirty="0" err="1">
                <a:latin typeface="Century" panose="02040604050505020304" pitchFamily="18" charset="0"/>
              </a:rPr>
              <a:t>baru</a:t>
            </a:r>
            <a:r>
              <a:rPr lang="en-ID" sz="1600" dirty="0">
                <a:latin typeface="Century" panose="02040604050505020304" pitchFamily="18" charset="0"/>
              </a:rPr>
              <a:t>, </a:t>
            </a:r>
            <a:r>
              <a:rPr lang="en-ID" sz="1600" dirty="0" err="1">
                <a:latin typeface="Century" panose="02040604050505020304" pitchFamily="18" charset="0"/>
              </a:rPr>
              <a:t>untuk</a:t>
            </a:r>
            <a:r>
              <a:rPr lang="en-ID" sz="1600" dirty="0">
                <a:latin typeface="Century" panose="02040604050505020304" pitchFamily="18" charset="0"/>
              </a:rPr>
              <a:t> </a:t>
            </a:r>
            <a:r>
              <a:rPr lang="en-ID" sz="1600" dirty="0" err="1">
                <a:latin typeface="Century" panose="02040604050505020304" pitchFamily="18" charset="0"/>
              </a:rPr>
              <a:t>menghasilkan</a:t>
            </a:r>
            <a:r>
              <a:rPr lang="en-ID" sz="1600" dirty="0">
                <a:latin typeface="Century" panose="02040604050505020304" pitchFamily="18" charset="0"/>
              </a:rPr>
              <a:t> data </a:t>
            </a:r>
            <a:r>
              <a:rPr lang="en-ID" sz="1600" i="1" dirty="0">
                <a:latin typeface="Century" panose="02040604050505020304" pitchFamily="18" charset="0"/>
              </a:rPr>
              <a:t>”Employee Quality".  </a:t>
            </a:r>
            <a:r>
              <a:rPr lang="en-ID" sz="1600" dirty="0" err="1">
                <a:latin typeface="Century" panose="02040604050505020304" pitchFamily="18" charset="0"/>
              </a:rPr>
              <a:t>Melakukan</a:t>
            </a:r>
            <a:r>
              <a:rPr lang="en-ID" sz="1600" dirty="0">
                <a:latin typeface="Century" panose="02040604050505020304" pitchFamily="18" charset="0"/>
              </a:rPr>
              <a:t> </a:t>
            </a:r>
            <a:r>
              <a:rPr lang="en-ID" sz="1600" dirty="0" err="1">
                <a:latin typeface="Century" panose="02040604050505020304" pitchFamily="18" charset="0"/>
              </a:rPr>
              <a:t>perhitungan</a:t>
            </a:r>
            <a:r>
              <a:rPr lang="en-ID" sz="1600" dirty="0">
                <a:latin typeface="Century" panose="02040604050505020304" pitchFamily="18" charset="0"/>
              </a:rPr>
              <a:t>, </a:t>
            </a:r>
            <a:r>
              <a:rPr lang="en-ID" sz="1600" dirty="0" err="1">
                <a:latin typeface="Century" panose="02040604050505020304" pitchFamily="18" charset="0"/>
              </a:rPr>
              <a:t>untuk</a:t>
            </a:r>
            <a:r>
              <a:rPr lang="en-ID" sz="1600" dirty="0">
                <a:latin typeface="Century" panose="02040604050505020304" pitchFamily="18" charset="0"/>
              </a:rPr>
              <a:t> </a:t>
            </a:r>
            <a:r>
              <a:rPr lang="en-ID" sz="1600" dirty="0" err="1">
                <a:latin typeface="Century" panose="02040604050505020304" pitchFamily="18" charset="0"/>
              </a:rPr>
              <a:t>usia</a:t>
            </a:r>
            <a:r>
              <a:rPr lang="en-ID" sz="1600" dirty="0">
                <a:latin typeface="Century" panose="02040604050505020304" pitchFamily="18" charset="0"/>
              </a:rPr>
              <a:t> rata-rata </a:t>
            </a:r>
            <a:r>
              <a:rPr lang="en-ID" sz="1600" dirty="0" err="1">
                <a:latin typeface="Century" panose="02040604050505020304" pitchFamily="18" charset="0"/>
              </a:rPr>
              <a:t>karyawan</a:t>
            </a:r>
            <a:r>
              <a:rPr lang="en-ID" sz="1600" dirty="0">
                <a:latin typeface="Century" panose="02040604050505020304" pitchFamily="18" charset="0"/>
              </a:rPr>
              <a:t> yang </a:t>
            </a:r>
            <a:r>
              <a:rPr lang="en-ID" sz="1600" dirty="0" err="1">
                <a:latin typeface="Century" panose="02040604050505020304" pitchFamily="18" charset="0"/>
              </a:rPr>
              <a:t>telah</a:t>
            </a:r>
            <a:r>
              <a:rPr lang="en-ID" sz="1600" dirty="0">
                <a:latin typeface="Century" panose="02040604050505020304" pitchFamily="18" charset="0"/>
              </a:rPr>
              <a:t> </a:t>
            </a:r>
            <a:r>
              <a:rPr lang="en-ID" sz="1600" dirty="0" err="1">
                <a:latin typeface="Century" panose="02040604050505020304" pitchFamily="18" charset="0"/>
              </a:rPr>
              <a:t>berhenti</a:t>
            </a:r>
            <a:r>
              <a:rPr lang="en-ID" sz="1600" dirty="0">
                <a:latin typeface="Century" panose="02040604050505020304" pitchFamily="18" charset="0"/>
              </a:rPr>
              <a:t> </a:t>
            </a:r>
            <a:r>
              <a:rPr lang="en-ID" sz="1600" dirty="0" err="1">
                <a:latin typeface="Century" panose="02040604050505020304" pitchFamily="18" charset="0"/>
              </a:rPr>
              <a:t>yaitu</a:t>
            </a:r>
            <a:r>
              <a:rPr lang="en-ID" sz="1600" dirty="0">
                <a:latin typeface="Century" panose="02040604050505020304" pitchFamily="18" charset="0"/>
              </a:rPr>
              <a:t> 54 </a:t>
            </a:r>
            <a:r>
              <a:rPr lang="en-ID" sz="1600" dirty="0" err="1">
                <a:latin typeface="Century" panose="02040604050505020304" pitchFamily="18" charset="0"/>
              </a:rPr>
              <a:t>tahun</a:t>
            </a:r>
            <a:r>
              <a:rPr lang="en-ID" sz="1600" dirty="0">
                <a:latin typeface="Century" panose="02040604050505020304" pitchFamily="18" charset="0"/>
              </a:rPr>
              <a:t> </a:t>
            </a:r>
            <a:r>
              <a:rPr lang="en-ID" sz="1600" dirty="0" err="1">
                <a:latin typeface="Century" panose="02040604050505020304" pitchFamily="18" charset="0"/>
              </a:rPr>
              <a:t>untuk</a:t>
            </a:r>
            <a:r>
              <a:rPr lang="en-ID" sz="1600" dirty="0">
                <a:latin typeface="Century" panose="02040604050505020304" pitchFamily="18" charset="0"/>
              </a:rPr>
              <a:t> </a:t>
            </a:r>
            <a:r>
              <a:rPr lang="en-ID" sz="1600" dirty="0" err="1">
                <a:latin typeface="Century" panose="02040604050505020304" pitchFamily="18" charset="0"/>
              </a:rPr>
              <a:t>karyawan</a:t>
            </a:r>
            <a:r>
              <a:rPr lang="en-ID" sz="1600" dirty="0">
                <a:latin typeface="Century" panose="02040604050505020304" pitchFamily="18" charset="0"/>
              </a:rPr>
              <a:t> </a:t>
            </a:r>
            <a:r>
              <a:rPr lang="en-ID" sz="1600" dirty="0" err="1">
                <a:latin typeface="Century" panose="02040604050505020304" pitchFamily="18" charset="0"/>
              </a:rPr>
              <a:t>laki-laki</a:t>
            </a:r>
            <a:r>
              <a:rPr lang="en-ID" sz="1600" dirty="0">
                <a:latin typeface="Century" panose="02040604050505020304" pitchFamily="18" charset="0"/>
              </a:rPr>
              <a:t> dan 55 </a:t>
            </a:r>
            <a:r>
              <a:rPr lang="en-ID" sz="1600" dirty="0" err="1">
                <a:latin typeface="Century" panose="02040604050505020304" pitchFamily="18" charset="0"/>
              </a:rPr>
              <a:t>tahun</a:t>
            </a:r>
            <a:r>
              <a:rPr lang="en-ID" sz="1600" dirty="0">
                <a:latin typeface="Century" panose="02040604050505020304" pitchFamily="18" charset="0"/>
              </a:rPr>
              <a:t> </a:t>
            </a:r>
            <a:r>
              <a:rPr lang="en-ID" sz="1600" dirty="0" err="1">
                <a:latin typeface="Century" panose="02040604050505020304" pitchFamily="18" charset="0"/>
              </a:rPr>
              <a:t>untuk</a:t>
            </a:r>
            <a:r>
              <a:rPr lang="en-ID" sz="1600" dirty="0">
                <a:latin typeface="Century" panose="02040604050505020304" pitchFamily="18" charset="0"/>
              </a:rPr>
              <a:t> </a:t>
            </a:r>
            <a:r>
              <a:rPr lang="en-ID" sz="1600" dirty="0" err="1">
                <a:latin typeface="Century" panose="02040604050505020304" pitchFamily="18" charset="0"/>
              </a:rPr>
              <a:t>karyawan</a:t>
            </a:r>
            <a:r>
              <a:rPr lang="en-ID" sz="1600" dirty="0">
                <a:latin typeface="Century" panose="02040604050505020304" pitchFamily="18" charset="0"/>
              </a:rPr>
              <a:t> </a:t>
            </a:r>
            <a:r>
              <a:rPr lang="en-ID" sz="1600" dirty="0" err="1">
                <a:latin typeface="Century" panose="02040604050505020304" pitchFamily="18" charset="0"/>
              </a:rPr>
              <a:t>perempuan</a:t>
            </a:r>
            <a:r>
              <a:rPr lang="en-ID" sz="1600" dirty="0">
                <a:latin typeface="Century" panose="02040604050505020304" pitchFamily="18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2ACDD0-4702-13BF-FBB2-59BFC838E13E}"/>
              </a:ext>
            </a:extLst>
          </p:cNvPr>
          <p:cNvSpPr txBox="1"/>
          <p:nvPr/>
        </p:nvSpPr>
        <p:spPr>
          <a:xfrm>
            <a:off x="304800" y="5816009"/>
            <a:ext cx="5309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  <a:r>
              <a:rPr lang="en-US" dirty="0" err="1"/>
              <a:t>Tambahkan</a:t>
            </a:r>
            <a:r>
              <a:rPr lang="en-US" dirty="0"/>
              <a:t> variable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menganalisa</a:t>
            </a:r>
            <a:r>
              <a:rPr lang="en-US" dirty="0"/>
              <a:t> </a:t>
            </a:r>
            <a:r>
              <a:rPr lang="en-US" dirty="0" err="1"/>
              <a:t>datanya</a:t>
            </a:r>
            <a:r>
              <a:rPr lang="en-US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5021781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E167950-EEDD-6C49-9B20-10546516EE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4661077"/>
              </p:ext>
            </p:extLst>
          </p:nvPr>
        </p:nvGraphicFramePr>
        <p:xfrm>
          <a:off x="584062" y="208864"/>
          <a:ext cx="7040057" cy="3770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58010F8-1519-BA81-C611-AE7457CC5DC3}"/>
              </a:ext>
            </a:extLst>
          </p:cNvPr>
          <p:cNvSpPr txBox="1"/>
          <p:nvPr/>
        </p:nvSpPr>
        <p:spPr>
          <a:xfrm>
            <a:off x="584062" y="3978877"/>
            <a:ext cx="1095714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latin typeface="Century" panose="02040604050505020304" pitchFamily="18" charset="0"/>
              </a:rPr>
              <a:t>Setelah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melakukan</a:t>
            </a:r>
            <a:r>
              <a:rPr lang="en-US" dirty="0">
                <a:latin typeface="Century" panose="02040604050505020304" pitchFamily="18" charset="0"/>
              </a:rPr>
              <a:t> data preparation, </a:t>
            </a:r>
            <a:r>
              <a:rPr lang="en-US" dirty="0" err="1">
                <a:latin typeface="Century" panose="02040604050505020304" pitchFamily="18" charset="0"/>
              </a:rPr>
              <a:t>berikut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merupakan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temuan</a:t>
            </a:r>
            <a:r>
              <a:rPr lang="en-US" dirty="0">
                <a:latin typeface="Century" panose="02040604050505020304" pitchFamily="18" charset="0"/>
              </a:rPr>
              <a:t> yang </a:t>
            </a:r>
            <a:r>
              <a:rPr lang="en-US" dirty="0" err="1">
                <a:latin typeface="Century" panose="02040604050505020304" pitchFamily="18" charset="0"/>
              </a:rPr>
              <a:t>menunjukan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bahwa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ada</a:t>
            </a:r>
            <a:r>
              <a:rPr lang="en-US" dirty="0">
                <a:latin typeface="Century" panose="02040604050505020304" pitchFamily="18" charset="0"/>
              </a:rPr>
              <a:t> 3 department yang </a:t>
            </a:r>
            <a:r>
              <a:rPr lang="en-US" dirty="0" err="1">
                <a:latin typeface="Century" panose="02040604050505020304" pitchFamily="18" charset="0"/>
              </a:rPr>
              <a:t>memiliki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angka</a:t>
            </a:r>
            <a:r>
              <a:rPr lang="en-US" dirty="0">
                <a:latin typeface="Century" panose="02040604050505020304" pitchFamily="18" charset="0"/>
              </a:rPr>
              <a:t> yang </a:t>
            </a:r>
            <a:r>
              <a:rPr lang="en-US" dirty="0" err="1">
                <a:latin typeface="Century" panose="02040604050505020304" pitchFamily="18" charset="0"/>
              </a:rPr>
              <a:t>tinggi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dari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dampak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fenomena</a:t>
            </a:r>
            <a:r>
              <a:rPr lang="en-US" dirty="0">
                <a:latin typeface="Century" panose="02040604050505020304" pitchFamily="18" charset="0"/>
              </a:rPr>
              <a:t> turnover </a:t>
            </a:r>
            <a:r>
              <a:rPr lang="en-US" dirty="0" err="1">
                <a:latin typeface="Century" panose="02040604050505020304" pitchFamily="18" charset="0"/>
              </a:rPr>
              <a:t>tersebut</a:t>
            </a:r>
            <a:r>
              <a:rPr lang="en-US" dirty="0">
                <a:latin typeface="Century" panose="02040604050505020304" pitchFamily="18" charset="0"/>
              </a:rPr>
              <a:t>. Bisa </a:t>
            </a:r>
            <a:r>
              <a:rPr lang="en-US" dirty="0" err="1">
                <a:latin typeface="Century" panose="02040604050505020304" pitchFamily="18" charset="0"/>
              </a:rPr>
              <a:t>kita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lihat</a:t>
            </a:r>
            <a:r>
              <a:rPr lang="en-US" dirty="0">
                <a:latin typeface="Century" panose="02040604050505020304" pitchFamily="18" charset="0"/>
              </a:rPr>
              <a:t> juga </a:t>
            </a:r>
            <a:r>
              <a:rPr lang="en-US" dirty="0" err="1">
                <a:latin typeface="Century" panose="02040604050505020304" pitchFamily="18" charset="0"/>
              </a:rPr>
              <a:t>dari</a:t>
            </a:r>
            <a:r>
              <a:rPr lang="en-US" dirty="0">
                <a:latin typeface="Century" panose="02040604050505020304" pitchFamily="18" charset="0"/>
              </a:rPr>
              <a:t> department </a:t>
            </a:r>
            <a:r>
              <a:rPr lang="en-US" b="1" dirty="0">
                <a:latin typeface="Century" panose="02040604050505020304" pitchFamily="18" charset="0"/>
              </a:rPr>
              <a:t>Production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ada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b="1" dirty="0">
                <a:latin typeface="Century" panose="02040604050505020304" pitchFamily="18" charset="0"/>
              </a:rPr>
              <a:t>1014 </a:t>
            </a:r>
            <a:r>
              <a:rPr lang="en-US" dirty="0">
                <a:latin typeface="Century" panose="02040604050505020304" pitchFamily="18" charset="0"/>
              </a:rPr>
              <a:t>orang, </a:t>
            </a:r>
            <a:r>
              <a:rPr lang="en-US" dirty="0" err="1">
                <a:latin typeface="Century" panose="02040604050505020304" pitchFamily="18" charset="0"/>
              </a:rPr>
              <a:t>lalu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ada</a:t>
            </a:r>
            <a:r>
              <a:rPr lang="en-US" dirty="0">
                <a:latin typeface="Century" panose="02040604050505020304" pitchFamily="18" charset="0"/>
              </a:rPr>
              <a:t> department </a:t>
            </a:r>
            <a:r>
              <a:rPr lang="en-US" b="1" dirty="0">
                <a:latin typeface="Century" panose="02040604050505020304" pitchFamily="18" charset="0"/>
              </a:rPr>
              <a:t>IT/IS </a:t>
            </a:r>
            <a:r>
              <a:rPr lang="en-US" dirty="0" err="1">
                <a:latin typeface="Century" panose="02040604050505020304" pitchFamily="18" charset="0"/>
              </a:rPr>
              <a:t>ada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b="1" dirty="0">
                <a:latin typeface="Century" panose="02040604050505020304" pitchFamily="18" charset="0"/>
              </a:rPr>
              <a:t>224</a:t>
            </a:r>
            <a:r>
              <a:rPr lang="en-US" dirty="0">
                <a:latin typeface="Century" panose="02040604050505020304" pitchFamily="18" charset="0"/>
              </a:rPr>
              <a:t> orang dan juga </a:t>
            </a:r>
            <a:r>
              <a:rPr lang="en-US" dirty="0" err="1">
                <a:latin typeface="Century" panose="02040604050505020304" pitchFamily="18" charset="0"/>
              </a:rPr>
              <a:t>dari</a:t>
            </a:r>
            <a:r>
              <a:rPr lang="en-US" dirty="0">
                <a:latin typeface="Century" panose="02040604050505020304" pitchFamily="18" charset="0"/>
              </a:rPr>
              <a:t> department </a:t>
            </a:r>
            <a:r>
              <a:rPr lang="en-US" b="1" dirty="0">
                <a:latin typeface="Century" panose="02040604050505020304" pitchFamily="18" charset="0"/>
              </a:rPr>
              <a:t>Sales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ada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b="1" dirty="0">
                <a:latin typeface="Century" panose="02040604050505020304" pitchFamily="18" charset="0"/>
              </a:rPr>
              <a:t>164</a:t>
            </a:r>
            <a:r>
              <a:rPr lang="en-US" dirty="0">
                <a:latin typeface="Century" panose="02040604050505020304" pitchFamily="18" charset="0"/>
              </a:rPr>
              <a:t> orang. </a:t>
            </a:r>
            <a:r>
              <a:rPr lang="en-US" dirty="0" err="1">
                <a:latin typeface="Century" panose="02040604050505020304" pitchFamily="18" charset="0"/>
              </a:rPr>
              <a:t>Ketiga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derpartment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tersebut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merupakan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b="1" dirty="0">
                <a:latin typeface="Century" panose="02040604050505020304" pitchFamily="18" charset="0"/>
              </a:rPr>
              <a:t>department yang </a:t>
            </a:r>
            <a:r>
              <a:rPr lang="en-US" b="1" dirty="0" err="1">
                <a:latin typeface="Century" panose="02040604050505020304" pitchFamily="18" charset="0"/>
              </a:rPr>
              <a:t>memiliki</a:t>
            </a:r>
            <a:r>
              <a:rPr lang="en-US" b="1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peran</a:t>
            </a:r>
            <a:r>
              <a:rPr lang="en-US" b="1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penting</a:t>
            </a:r>
            <a:r>
              <a:rPr lang="en-US" b="1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dalam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berjalannya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sebuah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perusahaan</a:t>
            </a:r>
            <a:r>
              <a:rPr lang="en-US" dirty="0">
                <a:latin typeface="Century" panose="02040604050505020304" pitchFamily="18" charset="0"/>
              </a:rPr>
              <a:t>, </a:t>
            </a:r>
            <a:r>
              <a:rPr lang="en-US" dirty="0" err="1">
                <a:latin typeface="Century" panose="02040604050505020304" pitchFamily="18" charset="0"/>
              </a:rPr>
              <a:t>dikarenakan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langsung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menyangkut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dengan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urusan</a:t>
            </a:r>
            <a:r>
              <a:rPr lang="en-US" b="1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produksi</a:t>
            </a:r>
            <a:r>
              <a:rPr lang="en-US" dirty="0">
                <a:latin typeface="Century" panose="02040604050505020304" pitchFamily="18" charset="0"/>
              </a:rPr>
              <a:t>, </a:t>
            </a:r>
            <a:r>
              <a:rPr lang="en-US" b="1" dirty="0">
                <a:latin typeface="Century" panose="02040604050505020304" pitchFamily="18" charset="0"/>
              </a:rPr>
              <a:t>system</a:t>
            </a:r>
            <a:r>
              <a:rPr lang="en-US" dirty="0">
                <a:latin typeface="Century" panose="02040604050505020304" pitchFamily="18" charset="0"/>
              </a:rPr>
              <a:t> yang </a:t>
            </a:r>
            <a:r>
              <a:rPr lang="en-US" dirty="0" err="1">
                <a:latin typeface="Century" panose="02040604050505020304" pitchFamily="18" charset="0"/>
              </a:rPr>
              <a:t>digunakan</a:t>
            </a:r>
            <a:r>
              <a:rPr lang="en-US" dirty="0">
                <a:latin typeface="Century" panose="02040604050505020304" pitchFamily="18" charset="0"/>
              </a:rPr>
              <a:t> oleh </a:t>
            </a:r>
            <a:r>
              <a:rPr lang="en-US" dirty="0" err="1">
                <a:latin typeface="Century" panose="02040604050505020304" pitchFamily="18" charset="0"/>
              </a:rPr>
              <a:t>perusahaan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untuk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bekerja</a:t>
            </a:r>
            <a:r>
              <a:rPr lang="en-US" dirty="0">
                <a:latin typeface="Century" panose="02040604050505020304" pitchFamily="18" charset="0"/>
              </a:rPr>
              <a:t> dan juga </a:t>
            </a:r>
            <a:r>
              <a:rPr lang="en-US" b="1" dirty="0" err="1">
                <a:latin typeface="Century" panose="02040604050505020304" pitchFamily="18" charset="0"/>
              </a:rPr>
              <a:t>pemasaran</a:t>
            </a:r>
            <a:r>
              <a:rPr lang="en-US" dirty="0">
                <a:latin typeface="Century" panose="02040604050505020304" pitchFamily="18" charset="0"/>
              </a:rPr>
              <a:t>. </a:t>
            </a:r>
            <a:r>
              <a:rPr lang="en-US" dirty="0" err="1">
                <a:latin typeface="Century" panose="02040604050505020304" pitchFamily="18" charset="0"/>
              </a:rPr>
              <a:t>Sehingga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perusahaan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perlu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mengambil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tindakan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seperti</a:t>
            </a:r>
            <a:r>
              <a:rPr lang="en-US" dirty="0">
                <a:latin typeface="Century" panose="02040604050505020304" pitchFamily="18" charset="0"/>
              </a:rPr>
              <a:t>, </a:t>
            </a:r>
            <a:r>
              <a:rPr lang="en-US" b="1" dirty="0" err="1">
                <a:latin typeface="Century" panose="02040604050505020304" pitchFamily="18" charset="0"/>
              </a:rPr>
              <a:t>evaluasi</a:t>
            </a:r>
            <a:r>
              <a:rPr lang="en-US" b="1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beban</a:t>
            </a:r>
            <a:r>
              <a:rPr lang="en-US" b="1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kerja</a:t>
            </a:r>
            <a:r>
              <a:rPr lang="en-US" b="1" dirty="0">
                <a:latin typeface="Century" panose="02040604050505020304" pitchFamily="18" charset="0"/>
              </a:rPr>
              <a:t> (Workload) </a:t>
            </a:r>
            <a:r>
              <a:rPr lang="en-US" dirty="0" err="1">
                <a:latin typeface="Century" panose="02040604050505020304" pitchFamily="18" charset="0"/>
              </a:rPr>
              <a:t>untuk</a:t>
            </a:r>
            <a:r>
              <a:rPr lang="en-US" dirty="0">
                <a:latin typeface="Century" panose="02040604050505020304" pitchFamily="18" charset="0"/>
              </a:rPr>
              <a:t> department </a:t>
            </a:r>
            <a:r>
              <a:rPr lang="en-US" b="1" dirty="0">
                <a:latin typeface="Century" panose="02040604050505020304" pitchFamily="18" charset="0"/>
              </a:rPr>
              <a:t>Production</a:t>
            </a:r>
            <a:r>
              <a:rPr lang="en-US" dirty="0">
                <a:latin typeface="Century" panose="02040604050505020304" pitchFamily="18" charset="0"/>
              </a:rPr>
              <a:t>, </a:t>
            </a:r>
            <a:r>
              <a:rPr lang="en-US" b="1" dirty="0" err="1">
                <a:latin typeface="Century" panose="02040604050505020304" pitchFamily="18" charset="0"/>
              </a:rPr>
              <a:t>memberi</a:t>
            </a:r>
            <a:r>
              <a:rPr lang="en-US" b="1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pelatihan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untuk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meningkatkan</a:t>
            </a:r>
            <a:r>
              <a:rPr lang="en-US" b="1" dirty="0">
                <a:latin typeface="Century" panose="02040604050505020304" pitchFamily="18" charset="0"/>
              </a:rPr>
              <a:t> skill </a:t>
            </a:r>
            <a:r>
              <a:rPr lang="en-US" b="1" dirty="0" err="1">
                <a:latin typeface="Century" panose="02040604050505020304" pitchFamily="18" charset="0"/>
              </a:rPr>
              <a:t>teknis</a:t>
            </a:r>
            <a:r>
              <a:rPr lang="en-US" b="1" dirty="0">
                <a:latin typeface="Century" panose="02040604050505020304" pitchFamily="18" charset="0"/>
              </a:rPr>
              <a:t> </a:t>
            </a:r>
            <a:r>
              <a:rPr lang="en-US" dirty="0">
                <a:latin typeface="Century" panose="02040604050505020304" pitchFamily="18" charset="0"/>
              </a:rPr>
              <a:t>pada department </a:t>
            </a:r>
            <a:r>
              <a:rPr lang="en-US" b="1" dirty="0">
                <a:latin typeface="Century" panose="02040604050505020304" pitchFamily="18" charset="0"/>
              </a:rPr>
              <a:t>IT/IS </a:t>
            </a:r>
            <a:r>
              <a:rPr lang="en-US" dirty="0">
                <a:latin typeface="Century" panose="02040604050505020304" pitchFamily="18" charset="0"/>
              </a:rPr>
              <a:t>dan juga </a:t>
            </a:r>
            <a:r>
              <a:rPr lang="en-US" b="1" dirty="0" err="1">
                <a:latin typeface="Century" panose="02040604050505020304" pitchFamily="18" charset="0"/>
              </a:rPr>
              <a:t>memberi</a:t>
            </a:r>
            <a:r>
              <a:rPr lang="en-US" b="1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komisi</a:t>
            </a:r>
            <a:r>
              <a:rPr lang="en-US" b="1" dirty="0">
                <a:latin typeface="Century" panose="02040604050505020304" pitchFamily="18" charset="0"/>
              </a:rPr>
              <a:t>/bonus </a:t>
            </a:r>
            <a:r>
              <a:rPr lang="en-US" dirty="0" err="1">
                <a:latin typeface="Century" panose="02040604050505020304" pitchFamily="18" charset="0"/>
              </a:rPr>
              <a:t>jika</a:t>
            </a:r>
            <a:r>
              <a:rPr lang="en-US" dirty="0">
                <a:latin typeface="Century" panose="02040604050505020304" pitchFamily="18" charset="0"/>
              </a:rPr>
              <a:t> target </a:t>
            </a:r>
            <a:r>
              <a:rPr lang="en-US" dirty="0" err="1">
                <a:latin typeface="Century" panose="02040604050505020304" pitchFamily="18" charset="0"/>
              </a:rPr>
              <a:t>tercapai</a:t>
            </a:r>
            <a:r>
              <a:rPr lang="en-US" dirty="0">
                <a:latin typeface="Century" panose="02040604050505020304" pitchFamily="18" charset="0"/>
              </a:rPr>
              <a:t> dan </a:t>
            </a:r>
            <a:r>
              <a:rPr lang="en-US" dirty="0" err="1">
                <a:latin typeface="Century" panose="02040604050505020304" pitchFamily="18" charset="0"/>
              </a:rPr>
              <a:t>terpenuhi</a:t>
            </a:r>
            <a:r>
              <a:rPr lang="en-US" dirty="0">
                <a:latin typeface="Century" panose="02040604050505020304" pitchFamily="18" charset="0"/>
              </a:rPr>
              <a:t> pada department </a:t>
            </a:r>
            <a:r>
              <a:rPr lang="en-US" b="1" dirty="0">
                <a:latin typeface="Century" panose="02040604050505020304" pitchFamily="18" charset="0"/>
              </a:rPr>
              <a:t>Sales</a:t>
            </a:r>
          </a:p>
        </p:txBody>
      </p:sp>
    </p:spTree>
    <p:extLst>
      <p:ext uri="{BB962C8B-B14F-4D97-AF65-F5344CB8AC3E}">
        <p14:creationId xmlns:p14="http://schemas.microsoft.com/office/powerpoint/2010/main" val="13821248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B9D85D5-1A5C-1F40-8D4F-71B8F9BF00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8683856"/>
              </p:ext>
            </p:extLst>
          </p:nvPr>
        </p:nvGraphicFramePr>
        <p:xfrm>
          <a:off x="827119" y="494414"/>
          <a:ext cx="5648109" cy="3099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BD4B686B-C605-18F1-16B3-89954518B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186" y="1303523"/>
            <a:ext cx="5281163" cy="14715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7266D3-AC82-5437-BE7E-7215F416479A}"/>
              </a:ext>
            </a:extLst>
          </p:cNvPr>
          <p:cNvSpPr txBox="1"/>
          <p:nvPr/>
        </p:nvSpPr>
        <p:spPr>
          <a:xfrm>
            <a:off x="827119" y="4231758"/>
            <a:ext cx="109431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entury" panose="02040604050505020304" pitchFamily="18" charset="0"/>
              </a:rPr>
              <a:t>Dari data </a:t>
            </a:r>
            <a:r>
              <a:rPr lang="en-US" dirty="0" err="1">
                <a:latin typeface="Century" panose="02040604050505020304" pitchFamily="18" charset="0"/>
              </a:rPr>
              <a:t>tersebut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kita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bisa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liat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bahwa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angka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karyawan</a:t>
            </a:r>
            <a:r>
              <a:rPr lang="en-US" dirty="0">
                <a:latin typeface="Century" panose="02040604050505020304" pitchFamily="18" charset="0"/>
              </a:rPr>
              <a:t> yang paling </a:t>
            </a:r>
            <a:r>
              <a:rPr lang="en-US" dirty="0" err="1">
                <a:latin typeface="Century" panose="02040604050505020304" pitchFamily="18" charset="0"/>
              </a:rPr>
              <a:t>banyak</a:t>
            </a:r>
            <a:r>
              <a:rPr lang="en-US" dirty="0">
                <a:latin typeface="Century" panose="02040604050505020304" pitchFamily="18" charset="0"/>
              </a:rPr>
              <a:t> resign </a:t>
            </a:r>
            <a:r>
              <a:rPr lang="en-US" dirty="0" err="1">
                <a:latin typeface="Century" panose="02040604050505020304" pitchFamily="18" charset="0"/>
              </a:rPr>
              <a:t>itu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merupakan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karyawan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b="1" dirty="0">
                <a:latin typeface="Century" panose="02040604050505020304" pitchFamily="18" charset="0"/>
              </a:rPr>
              <a:t>full time</a:t>
            </a:r>
            <a:r>
              <a:rPr lang="en-US" dirty="0">
                <a:latin typeface="Century" panose="02040604050505020304" pitchFamily="18" charset="0"/>
              </a:rPr>
              <a:t>, </a:t>
            </a:r>
            <a:r>
              <a:rPr lang="en-US" dirty="0" err="1">
                <a:latin typeface="Century" panose="02040604050505020304" pitchFamily="18" charset="0"/>
              </a:rPr>
              <a:t>lalu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diikuti</a:t>
            </a:r>
            <a:r>
              <a:rPr lang="en-US" dirty="0">
                <a:latin typeface="Century" panose="02040604050505020304" pitchFamily="18" charset="0"/>
              </a:rPr>
              <a:t> oleh </a:t>
            </a:r>
            <a:r>
              <a:rPr lang="en-US" dirty="0" err="1">
                <a:latin typeface="Century" panose="02040604050505020304" pitchFamily="18" charset="0"/>
              </a:rPr>
              <a:t>kontrak</a:t>
            </a:r>
            <a:r>
              <a:rPr lang="en-US" dirty="0">
                <a:latin typeface="Century" panose="02040604050505020304" pitchFamily="18" charset="0"/>
              </a:rPr>
              <a:t> dan juga part time. Perusahaan </a:t>
            </a:r>
            <a:r>
              <a:rPr lang="en-US" dirty="0" err="1">
                <a:latin typeface="Century" panose="02040604050505020304" pitchFamily="18" charset="0"/>
              </a:rPr>
              <a:t>perlu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memberikan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perhatian</a:t>
            </a:r>
            <a:r>
              <a:rPr lang="en-US" dirty="0">
                <a:latin typeface="Century" panose="02040604050505020304" pitchFamily="18" charset="0"/>
              </a:rPr>
              <a:t> yang </a:t>
            </a:r>
            <a:r>
              <a:rPr lang="en-US" dirty="0" err="1">
                <a:latin typeface="Century" panose="02040604050505020304" pitchFamily="18" charset="0"/>
              </a:rPr>
              <a:t>lebih</a:t>
            </a:r>
            <a:r>
              <a:rPr lang="en-US" dirty="0">
                <a:latin typeface="Century" panose="02040604050505020304" pitchFamily="18" charset="0"/>
              </a:rPr>
              <a:t> pada </a:t>
            </a:r>
            <a:r>
              <a:rPr lang="en-US" dirty="0" err="1">
                <a:latin typeface="Century" panose="02040604050505020304" pitchFamily="18" charset="0"/>
              </a:rPr>
              <a:t>sekelompok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karyawan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tersebut</a:t>
            </a:r>
            <a:r>
              <a:rPr lang="en-US" dirty="0">
                <a:latin typeface="Century" panose="02040604050505020304" pitchFamily="18" charset="0"/>
              </a:rPr>
              <a:t>. </a:t>
            </a:r>
            <a:r>
              <a:rPr lang="en-US" dirty="0" err="1">
                <a:latin typeface="Century" panose="02040604050505020304" pitchFamily="18" charset="0"/>
              </a:rPr>
              <a:t>Dikarenakan</a:t>
            </a:r>
            <a:r>
              <a:rPr lang="en-US" dirty="0">
                <a:latin typeface="Century" panose="02040604050505020304" pitchFamily="18" charset="0"/>
              </a:rPr>
              <a:t> Perusahaan </a:t>
            </a:r>
            <a:r>
              <a:rPr lang="en-US" dirty="0" err="1">
                <a:latin typeface="Century" panose="02040604050505020304" pitchFamily="18" charset="0"/>
              </a:rPr>
              <a:t>akan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mengeluarkan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biaya</a:t>
            </a:r>
            <a:r>
              <a:rPr lang="en-US" dirty="0">
                <a:latin typeface="Century" panose="02040604050505020304" pitchFamily="18" charset="0"/>
              </a:rPr>
              <a:t> yang </a:t>
            </a:r>
            <a:r>
              <a:rPr lang="en-US" dirty="0" err="1">
                <a:latin typeface="Century" panose="02040604050505020304" pitchFamily="18" charset="0"/>
              </a:rPr>
              <a:t>lebih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lagi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untuk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biaya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rekrutmen</a:t>
            </a:r>
            <a:r>
              <a:rPr lang="en-US" dirty="0">
                <a:latin typeface="Century" panose="02040604050505020304" pitchFamily="18" charset="0"/>
              </a:rPr>
              <a:t> dan </a:t>
            </a:r>
            <a:r>
              <a:rPr lang="en-US" b="1" dirty="0" err="1">
                <a:latin typeface="Century" panose="02040604050505020304" pitchFamily="18" charset="0"/>
              </a:rPr>
              <a:t>pelatihan</a:t>
            </a:r>
            <a:r>
              <a:rPr lang="en-US" b="1" dirty="0">
                <a:latin typeface="Century" panose="02040604050505020304" pitchFamily="18" charset="0"/>
              </a:rPr>
              <a:t>. </a:t>
            </a:r>
            <a:r>
              <a:rPr lang="en-US" dirty="0">
                <a:latin typeface="Century" panose="02040604050505020304" pitchFamily="18" charset="0"/>
              </a:rPr>
              <a:t>Maka </a:t>
            </a:r>
            <a:r>
              <a:rPr lang="en-US" dirty="0" err="1">
                <a:latin typeface="Century" panose="02040604050505020304" pitchFamily="18" charset="0"/>
              </a:rPr>
              <a:t>dari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itu</a:t>
            </a:r>
            <a:r>
              <a:rPr lang="en-US" dirty="0">
                <a:latin typeface="Century" panose="02040604050505020304" pitchFamily="18" charset="0"/>
              </a:rPr>
              <a:t> Perusahaan </a:t>
            </a:r>
            <a:r>
              <a:rPr lang="en-US" dirty="0" err="1">
                <a:latin typeface="Century" panose="02040604050505020304" pitchFamily="18" charset="0"/>
              </a:rPr>
              <a:t>perlu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memberikan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jenjang</a:t>
            </a:r>
            <a:r>
              <a:rPr lang="en-US" b="1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karir</a:t>
            </a:r>
            <a:r>
              <a:rPr lang="en-US" dirty="0">
                <a:latin typeface="Century" panose="02040604050505020304" pitchFamily="18" charset="0"/>
              </a:rPr>
              <a:t> yang </a:t>
            </a:r>
            <a:r>
              <a:rPr lang="en-US" dirty="0" err="1">
                <a:latin typeface="Century" panose="02040604050505020304" pitchFamily="18" charset="0"/>
              </a:rPr>
              <a:t>jelas</a:t>
            </a:r>
            <a:r>
              <a:rPr lang="en-US" dirty="0">
                <a:latin typeface="Century" panose="02040604050505020304" pitchFamily="18" charset="0"/>
              </a:rPr>
              <a:t> dan juga </a:t>
            </a:r>
            <a:r>
              <a:rPr lang="en-US" b="1" dirty="0" err="1">
                <a:latin typeface="Century" panose="02040604050505020304" pitchFamily="18" charset="0"/>
              </a:rPr>
              <a:t>peluang</a:t>
            </a:r>
            <a:r>
              <a:rPr lang="en-US" b="1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untuk</a:t>
            </a:r>
            <a:r>
              <a:rPr lang="en-US" b="1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promosi</a:t>
            </a:r>
            <a:r>
              <a:rPr lang="en-US" b="1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untuk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karyawan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b="1" dirty="0">
                <a:latin typeface="Century" panose="02040604050505020304" pitchFamily="18" charset="0"/>
              </a:rPr>
              <a:t>full time</a:t>
            </a:r>
            <a:r>
              <a:rPr lang="en-US" dirty="0">
                <a:latin typeface="Century" panose="02040604050505020304" pitchFamily="18" charset="0"/>
              </a:rPr>
              <a:t>, </a:t>
            </a:r>
            <a:r>
              <a:rPr lang="en-US" dirty="0" err="1">
                <a:latin typeface="Century" panose="02040604050505020304" pitchFamily="18" charset="0"/>
              </a:rPr>
              <a:t>memberikan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perpanjangan</a:t>
            </a:r>
            <a:r>
              <a:rPr lang="en-US" b="1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kontrak</a:t>
            </a:r>
            <a:r>
              <a:rPr lang="en-US" b="1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ataupun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memberikan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kesempatan</a:t>
            </a:r>
            <a:r>
              <a:rPr lang="en-US" b="1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menjadi</a:t>
            </a:r>
            <a:r>
              <a:rPr lang="en-US" b="1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karyawan</a:t>
            </a:r>
            <a:r>
              <a:rPr lang="en-US" b="1" dirty="0">
                <a:latin typeface="Century" panose="02040604050505020304" pitchFamily="18" charset="0"/>
              </a:rPr>
              <a:t> full time </a:t>
            </a:r>
            <a:r>
              <a:rPr lang="en-US" dirty="0" err="1">
                <a:latin typeface="Century" panose="02040604050505020304" pitchFamily="18" charset="0"/>
              </a:rPr>
              <a:t>kepada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karyawan</a:t>
            </a:r>
            <a:r>
              <a:rPr lang="en-US" b="1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kontrak</a:t>
            </a:r>
            <a:r>
              <a:rPr lang="en-US" dirty="0">
                <a:latin typeface="Century" panose="02040604050505020304" pitchFamily="18" charset="0"/>
              </a:rPr>
              <a:t>, dan juga </a:t>
            </a:r>
            <a:r>
              <a:rPr lang="en-US" dirty="0" err="1">
                <a:latin typeface="Century" panose="02040604050505020304" pitchFamily="18" charset="0"/>
              </a:rPr>
              <a:t>memberikan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b="1" dirty="0" err="1">
                <a:latin typeface="Century" panose="02040604050505020304" pitchFamily="18" charset="0"/>
              </a:rPr>
              <a:t>kesesuaian</a:t>
            </a:r>
            <a:r>
              <a:rPr lang="en-US" b="1" dirty="0">
                <a:latin typeface="Century" panose="02040604050505020304" pitchFamily="18" charset="0"/>
              </a:rPr>
              <a:t> jam </a:t>
            </a:r>
            <a:r>
              <a:rPr lang="en-US" b="1" dirty="0" err="1">
                <a:latin typeface="Century" panose="02040604050505020304" pitchFamily="18" charset="0"/>
              </a:rPr>
              <a:t>kerja</a:t>
            </a:r>
            <a:r>
              <a:rPr lang="en-US" dirty="0">
                <a:latin typeface="Century" panose="02040604050505020304" pitchFamily="18" charset="0"/>
              </a:rPr>
              <a:t> dan juga </a:t>
            </a:r>
            <a:r>
              <a:rPr lang="en-US" b="1" dirty="0" err="1">
                <a:latin typeface="Century" panose="02040604050505020304" pitchFamily="18" charset="0"/>
              </a:rPr>
              <a:t>kompensasi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jika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ada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nya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penambahan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waktu</a:t>
            </a:r>
            <a:r>
              <a:rPr lang="en-US" dirty="0">
                <a:latin typeface="Century" panose="02040604050505020304" pitchFamily="18" charset="0"/>
              </a:rPr>
              <a:t> jam </a:t>
            </a:r>
            <a:r>
              <a:rPr lang="en-US" dirty="0" err="1">
                <a:latin typeface="Century" panose="02040604050505020304" pitchFamily="18" charset="0"/>
              </a:rPr>
              <a:t>kerja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kepada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karyawan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b="1" dirty="0">
                <a:latin typeface="Century" panose="02040604050505020304" pitchFamily="18" charset="0"/>
              </a:rPr>
              <a:t>part time</a:t>
            </a:r>
          </a:p>
        </p:txBody>
      </p:sp>
    </p:spTree>
    <p:extLst>
      <p:ext uri="{BB962C8B-B14F-4D97-AF65-F5344CB8AC3E}">
        <p14:creationId xmlns:p14="http://schemas.microsoft.com/office/powerpoint/2010/main" val="19661751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0206375-B5DF-A249-A39A-2F789E6530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8706926"/>
              </p:ext>
            </p:extLst>
          </p:nvPr>
        </p:nvGraphicFramePr>
        <p:xfrm>
          <a:off x="3286672" y="358346"/>
          <a:ext cx="561865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AA239B1-2B2E-8FB3-4C68-5D0B81AA8A23}"/>
              </a:ext>
            </a:extLst>
          </p:cNvPr>
          <p:cNvSpPr txBox="1"/>
          <p:nvPr/>
        </p:nvSpPr>
        <p:spPr>
          <a:xfrm>
            <a:off x="529281" y="3521675"/>
            <a:ext cx="1113343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entury" panose="02040604050505020304" pitchFamily="18" charset="0"/>
              </a:rPr>
              <a:t>Angka </a:t>
            </a:r>
            <a:r>
              <a:rPr lang="en-US" sz="2000" dirty="0" err="1">
                <a:latin typeface="Century" panose="02040604050505020304" pitchFamily="18" charset="0"/>
              </a:rPr>
              <a:t>tersebut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menunjukan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bahwa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karyawan</a:t>
            </a:r>
            <a:r>
              <a:rPr lang="en-US" sz="2000" dirty="0">
                <a:latin typeface="Century" panose="02040604050505020304" pitchFamily="18" charset="0"/>
              </a:rPr>
              <a:t> yang </a:t>
            </a:r>
            <a:r>
              <a:rPr lang="en-US" sz="2000" dirty="0" err="1">
                <a:latin typeface="Century" panose="02040604050505020304" pitchFamily="18" charset="0"/>
              </a:rPr>
              <a:t>keluar</a:t>
            </a:r>
            <a:r>
              <a:rPr lang="en-US" sz="2000" dirty="0">
                <a:latin typeface="Century" panose="02040604050505020304" pitchFamily="18" charset="0"/>
              </a:rPr>
              <a:t> dan </a:t>
            </a:r>
            <a:r>
              <a:rPr lang="en-US" sz="2000" dirty="0" err="1">
                <a:latin typeface="Century" panose="02040604050505020304" pitchFamily="18" charset="0"/>
              </a:rPr>
              <a:t>memiliki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kualitas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biasa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saja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lebih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tinggi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dibanding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karyawan</a:t>
            </a:r>
            <a:r>
              <a:rPr lang="en-US" sz="2000" dirty="0">
                <a:latin typeface="Century" panose="02040604050505020304" pitchFamily="18" charset="0"/>
              </a:rPr>
              <a:t> yang </a:t>
            </a:r>
            <a:r>
              <a:rPr lang="en-US" sz="2000" dirty="0" err="1">
                <a:latin typeface="Century" panose="02040604050505020304" pitchFamily="18" charset="0"/>
              </a:rPr>
              <a:t>memiliki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kualitas</a:t>
            </a:r>
            <a:r>
              <a:rPr lang="en-US" sz="2000" dirty="0">
                <a:latin typeface="Century" panose="02040604050505020304" pitchFamily="18" charset="0"/>
              </a:rPr>
              <a:t> sangat </a:t>
            </a:r>
            <a:r>
              <a:rPr lang="en-US" sz="2000" dirty="0" err="1">
                <a:latin typeface="Century" panose="02040604050505020304" pitchFamily="18" charset="0"/>
              </a:rPr>
              <a:t>berkualitas</a:t>
            </a:r>
            <a:r>
              <a:rPr lang="en-US" sz="2000" dirty="0">
                <a:latin typeface="Century" panose="02040604050505020304" pitchFamily="18" charset="0"/>
              </a:rPr>
              <a:t>. Tapi </a:t>
            </a:r>
            <a:r>
              <a:rPr lang="en-US" sz="2000" dirty="0" err="1">
                <a:latin typeface="Century" panose="02040604050505020304" pitchFamily="18" charset="0"/>
              </a:rPr>
              <a:t>tidak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menutup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kemungkinan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bahwa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perusahaan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tetap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b="1" dirty="0" err="1">
                <a:latin typeface="Century" panose="02040604050505020304" pitchFamily="18" charset="0"/>
              </a:rPr>
              <a:t>kehilangan</a:t>
            </a:r>
            <a:r>
              <a:rPr lang="en-US" sz="2000" b="1" dirty="0">
                <a:latin typeface="Century" panose="02040604050505020304" pitchFamily="18" charset="0"/>
              </a:rPr>
              <a:t> </a:t>
            </a:r>
            <a:r>
              <a:rPr lang="en-US" sz="2000" b="1" dirty="0" err="1">
                <a:latin typeface="Century" panose="02040604050505020304" pitchFamily="18" charset="0"/>
              </a:rPr>
              <a:t>karyawannya</a:t>
            </a:r>
            <a:r>
              <a:rPr lang="en-US" sz="2000" b="1" dirty="0">
                <a:latin typeface="Century" panose="02040604050505020304" pitchFamily="18" charset="0"/>
              </a:rPr>
              <a:t> </a:t>
            </a:r>
            <a:r>
              <a:rPr lang="en-US" sz="2000" dirty="0">
                <a:latin typeface="Century" panose="02040604050505020304" pitchFamily="18" charset="0"/>
              </a:rPr>
              <a:t>yang </a:t>
            </a:r>
            <a:r>
              <a:rPr lang="en-US" sz="2000" b="1" dirty="0" err="1">
                <a:latin typeface="Century" panose="02040604050505020304" pitchFamily="18" charset="0"/>
              </a:rPr>
              <a:t>berkualitas</a:t>
            </a:r>
            <a:r>
              <a:rPr lang="en-US" sz="2000" dirty="0">
                <a:latin typeface="Century" panose="02040604050505020304" pitchFamily="18" charset="0"/>
              </a:rPr>
              <a:t>. Perusahaan juga </a:t>
            </a:r>
            <a:r>
              <a:rPr lang="en-US" sz="2000" dirty="0" err="1">
                <a:latin typeface="Century" panose="02040604050505020304" pitchFamily="18" charset="0"/>
              </a:rPr>
              <a:t>tetap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perlu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memperhatikan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kelompok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karyawan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berkualitas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dengan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cara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memberikan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promosi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ataupun</a:t>
            </a:r>
            <a:r>
              <a:rPr lang="en-US" sz="2000" dirty="0">
                <a:latin typeface="Century" panose="02040604050505020304" pitchFamily="18" charset="0"/>
              </a:rPr>
              <a:t> bonus dan juga </a:t>
            </a:r>
            <a:r>
              <a:rPr lang="en-US" sz="2000" dirty="0" err="1">
                <a:latin typeface="Century" panose="02040604050505020304" pitchFamily="18" charset="0"/>
              </a:rPr>
              <a:t>pengakuan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bahwa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mereka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memiliki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kinerja</a:t>
            </a:r>
            <a:r>
              <a:rPr lang="en-US" sz="2000" dirty="0">
                <a:latin typeface="Century" panose="02040604050505020304" pitchFamily="18" charset="0"/>
              </a:rPr>
              <a:t> yang sangat </a:t>
            </a:r>
            <a:r>
              <a:rPr lang="en-US" sz="2000" dirty="0" err="1">
                <a:latin typeface="Century" panose="02040604050505020304" pitchFamily="18" charset="0"/>
              </a:rPr>
              <a:t>bagus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terhadap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perusahaan</a:t>
            </a:r>
            <a:r>
              <a:rPr lang="en-US" sz="2000" dirty="0">
                <a:latin typeface="Century" panose="02040604050505020304" pitchFamily="18" charset="0"/>
              </a:rPr>
              <a:t>. Karyawan yang </a:t>
            </a:r>
            <a:r>
              <a:rPr lang="en-US" sz="2000" dirty="0" err="1">
                <a:latin typeface="Century" panose="02040604050505020304" pitchFamily="18" charset="0"/>
              </a:rPr>
              <a:t>memiliki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kualitas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biasa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saja</a:t>
            </a:r>
            <a:r>
              <a:rPr lang="en-US" sz="2000" dirty="0">
                <a:latin typeface="Century" panose="02040604050505020304" pitchFamily="18" charset="0"/>
              </a:rPr>
              <a:t> juga </a:t>
            </a:r>
            <a:r>
              <a:rPr lang="en-US" sz="2000" dirty="0" err="1">
                <a:latin typeface="Century" panose="02040604050505020304" pitchFamily="18" charset="0"/>
              </a:rPr>
              <a:t>perlu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mendapatkan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perhatian</a:t>
            </a:r>
            <a:r>
              <a:rPr lang="en-US" sz="2000" dirty="0">
                <a:latin typeface="Century" panose="02040604050505020304" pitchFamily="18" charset="0"/>
              </a:rPr>
              <a:t> oleh </a:t>
            </a:r>
            <a:r>
              <a:rPr lang="en-US" sz="2000" dirty="0" err="1">
                <a:latin typeface="Century" panose="02040604050505020304" pitchFamily="18" charset="0"/>
              </a:rPr>
              <a:t>perusahaan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dikarenakan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untuk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meningkatkan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performa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kinerja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mereka</a:t>
            </a:r>
            <a:r>
              <a:rPr lang="en-US" sz="2000" dirty="0">
                <a:latin typeface="Century" panose="02040604050505020304" pitchFamily="18" charset="0"/>
              </a:rPr>
              <a:t> dan juga </a:t>
            </a:r>
            <a:r>
              <a:rPr lang="en-US" sz="2000" dirty="0" err="1">
                <a:latin typeface="Century" panose="02040604050505020304" pitchFamily="18" charset="0"/>
              </a:rPr>
              <a:t>perusahaan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harus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memberikan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b="1" dirty="0">
                <a:latin typeface="Century" panose="02040604050505020304" pitchFamily="18" charset="0"/>
              </a:rPr>
              <a:t>coaching dan mentoring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untuk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setiap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karyawannya</a:t>
            </a:r>
            <a:r>
              <a:rPr lang="en-US" sz="2000" dirty="0">
                <a:latin typeface="Century" panose="02040604050505020304" pitchFamily="18" charset="0"/>
              </a:rPr>
              <a:t> juga </a:t>
            </a:r>
            <a:r>
              <a:rPr lang="en-US" sz="2000" dirty="0" err="1">
                <a:latin typeface="Century" panose="02040604050505020304" pitchFamily="18" charset="0"/>
              </a:rPr>
              <a:t>memberikan</a:t>
            </a:r>
            <a:r>
              <a:rPr lang="en-US" sz="2000" dirty="0">
                <a:latin typeface="Century" panose="02040604050505020304" pitchFamily="18" charset="0"/>
              </a:rPr>
              <a:t> feedback </a:t>
            </a:r>
            <a:r>
              <a:rPr lang="en-US" sz="2000" dirty="0" err="1">
                <a:latin typeface="Century" panose="02040604050505020304" pitchFamily="18" charset="0"/>
              </a:rPr>
              <a:t>untuk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mereka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dirty="0" err="1">
                <a:latin typeface="Century" panose="02040604050505020304" pitchFamily="18" charset="0"/>
              </a:rPr>
              <a:t>jika</a:t>
            </a:r>
            <a:r>
              <a:rPr lang="en-US" sz="2000" dirty="0">
                <a:latin typeface="Century" panose="02040604050505020304" pitchFamily="18" charset="0"/>
              </a:rPr>
              <a:t> </a:t>
            </a:r>
            <a:r>
              <a:rPr lang="en-US" sz="2000" b="1" dirty="0" err="1">
                <a:latin typeface="Century" panose="02040604050505020304" pitchFamily="18" charset="0"/>
              </a:rPr>
              <a:t>perusahaan</a:t>
            </a:r>
            <a:r>
              <a:rPr lang="en-US" sz="2000" b="1" dirty="0">
                <a:latin typeface="Century" panose="02040604050505020304" pitchFamily="18" charset="0"/>
              </a:rPr>
              <a:t> </a:t>
            </a:r>
            <a:r>
              <a:rPr lang="en-US" sz="2000" b="1" dirty="0" err="1">
                <a:latin typeface="Century" panose="02040604050505020304" pitchFamily="18" charset="0"/>
              </a:rPr>
              <a:t>ingin</a:t>
            </a:r>
            <a:r>
              <a:rPr lang="en-US" sz="2000" b="1" dirty="0">
                <a:latin typeface="Century" panose="02040604050505020304" pitchFamily="18" charset="0"/>
              </a:rPr>
              <a:t> </a:t>
            </a:r>
            <a:r>
              <a:rPr lang="en-US" sz="2000" b="1" dirty="0" err="1">
                <a:latin typeface="Century" panose="02040604050505020304" pitchFamily="18" charset="0"/>
              </a:rPr>
              <a:t>mendepatkan</a:t>
            </a:r>
            <a:r>
              <a:rPr lang="en-US" sz="2000" b="1" dirty="0">
                <a:latin typeface="Century" panose="02040604050505020304" pitchFamily="18" charset="0"/>
              </a:rPr>
              <a:t> </a:t>
            </a:r>
            <a:r>
              <a:rPr lang="en-US" sz="2000" b="1" dirty="0" err="1">
                <a:latin typeface="Century" panose="02040604050505020304" pitchFamily="18" charset="0"/>
              </a:rPr>
              <a:t>hasil</a:t>
            </a:r>
            <a:r>
              <a:rPr lang="en-US" sz="2000" b="1" dirty="0">
                <a:latin typeface="Century" panose="02040604050505020304" pitchFamily="18" charset="0"/>
              </a:rPr>
              <a:t> yang </a:t>
            </a:r>
            <a:r>
              <a:rPr lang="en-US" sz="2000" b="1" dirty="0" err="1">
                <a:latin typeface="Century" panose="02040604050505020304" pitchFamily="18" charset="0"/>
              </a:rPr>
              <a:t>maksimal</a:t>
            </a:r>
            <a:r>
              <a:rPr lang="en-US" sz="2000" b="1" dirty="0">
                <a:latin typeface="Century" panose="02040604050505020304" pitchFamily="18" charset="0"/>
              </a:rPr>
              <a:t> </a:t>
            </a:r>
            <a:r>
              <a:rPr lang="en-US" sz="2000" b="1" dirty="0" err="1">
                <a:latin typeface="Century" panose="02040604050505020304" pitchFamily="18" charset="0"/>
              </a:rPr>
              <a:t>dari</a:t>
            </a:r>
            <a:r>
              <a:rPr lang="en-US" sz="2000" b="1" dirty="0">
                <a:latin typeface="Century" panose="02040604050505020304" pitchFamily="18" charset="0"/>
              </a:rPr>
              <a:t> </a:t>
            </a:r>
            <a:r>
              <a:rPr lang="en-US" sz="2000" b="1" dirty="0" err="1">
                <a:latin typeface="Century" panose="02040604050505020304" pitchFamily="18" charset="0"/>
              </a:rPr>
              <a:t>setiap</a:t>
            </a:r>
            <a:r>
              <a:rPr lang="en-US" sz="2000" b="1" dirty="0">
                <a:latin typeface="Century" panose="02040604050505020304" pitchFamily="18" charset="0"/>
              </a:rPr>
              <a:t> </a:t>
            </a:r>
            <a:r>
              <a:rPr lang="en-US" sz="2000" b="1" dirty="0" err="1">
                <a:latin typeface="Century" panose="02040604050505020304" pitchFamily="18" charset="0"/>
              </a:rPr>
              <a:t>karyawannya</a:t>
            </a:r>
            <a:endParaRPr lang="en-US" sz="2000" b="1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456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6;p30">
            <a:extLst>
              <a:ext uri="{FF2B5EF4-FFF2-40B4-BE49-F238E27FC236}">
                <a16:creationId xmlns:a16="http://schemas.microsoft.com/office/drawing/2014/main" id="{CD19A1BC-72F2-0D9E-8B97-E108EAA55EB9}"/>
              </a:ext>
            </a:extLst>
          </p:cNvPr>
          <p:cNvSpPr txBox="1">
            <a:spLocks/>
          </p:cNvSpPr>
          <p:nvPr/>
        </p:nvSpPr>
        <p:spPr>
          <a:xfrm>
            <a:off x="262269" y="0"/>
            <a:ext cx="11667460" cy="104553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D" sz="4800" dirty="0">
                <a:solidFill>
                  <a:schemeClr val="accent1"/>
                </a:solidFill>
                <a:latin typeface="Impact" panose="020B0806030902050204" pitchFamily="34" charset="0"/>
              </a:rPr>
              <a:t>Dashboard</a:t>
            </a:r>
            <a:endParaRPr lang="en-ID" sz="72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5C6C27-9D2D-95FF-A3D9-7F81AC4D3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326" y="913232"/>
            <a:ext cx="8815347" cy="563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69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6;p30">
            <a:extLst>
              <a:ext uri="{FF2B5EF4-FFF2-40B4-BE49-F238E27FC236}">
                <a16:creationId xmlns:a16="http://schemas.microsoft.com/office/drawing/2014/main" id="{C032DA2E-81D1-9D97-A263-2DCF9938E55A}"/>
              </a:ext>
            </a:extLst>
          </p:cNvPr>
          <p:cNvSpPr txBox="1">
            <a:spLocks/>
          </p:cNvSpPr>
          <p:nvPr/>
        </p:nvSpPr>
        <p:spPr>
          <a:xfrm>
            <a:off x="304800" y="304800"/>
            <a:ext cx="11667460" cy="104553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D" sz="7200" dirty="0">
                <a:solidFill>
                  <a:schemeClr val="accent1"/>
                </a:solidFill>
                <a:latin typeface="Impact" panose="020B0806030902050204" pitchFamily="34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47EEFA-1395-4A74-0EFE-8CD48CD48B49}"/>
              </a:ext>
            </a:extLst>
          </p:cNvPr>
          <p:cNvSpPr txBox="1"/>
          <p:nvPr/>
        </p:nvSpPr>
        <p:spPr>
          <a:xfrm>
            <a:off x="304800" y="1350335"/>
            <a:ext cx="1155768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ID" sz="2400" dirty="0">
                <a:latin typeface="Century" panose="02040604050505020304" pitchFamily="18" charset="0"/>
              </a:rPr>
              <a:t>Perusahaan </a:t>
            </a:r>
            <a:r>
              <a:rPr lang="en-ID" sz="2400" dirty="0" err="1">
                <a:latin typeface="Century" panose="02040604050505020304" pitchFamily="18" charset="0"/>
              </a:rPr>
              <a:t>perlu</a:t>
            </a:r>
            <a:r>
              <a:rPr lang="en-ID" sz="2400" dirty="0">
                <a:latin typeface="Century" panose="02040604050505020304" pitchFamily="18" charset="0"/>
              </a:rPr>
              <a:t> </a:t>
            </a:r>
            <a:r>
              <a:rPr lang="en-ID" sz="2400" dirty="0" err="1">
                <a:latin typeface="Century" panose="02040604050505020304" pitchFamily="18" charset="0"/>
              </a:rPr>
              <a:t>mencari</a:t>
            </a:r>
            <a:r>
              <a:rPr lang="en-ID" sz="2400" dirty="0">
                <a:latin typeface="Century" panose="02040604050505020304" pitchFamily="18" charset="0"/>
              </a:rPr>
              <a:t> </a:t>
            </a:r>
            <a:r>
              <a:rPr lang="en-ID" sz="2400" dirty="0" err="1">
                <a:latin typeface="Century" panose="02040604050505020304" pitchFamily="18" charset="0"/>
              </a:rPr>
              <a:t>penyebab</a:t>
            </a:r>
            <a:r>
              <a:rPr lang="en-ID" sz="2400" dirty="0">
                <a:latin typeface="Century" panose="02040604050505020304" pitchFamily="18" charset="0"/>
              </a:rPr>
              <a:t> </a:t>
            </a:r>
            <a:r>
              <a:rPr lang="en-ID" sz="2400" dirty="0" err="1">
                <a:latin typeface="Century" panose="02040604050505020304" pitchFamily="18" charset="0"/>
              </a:rPr>
              <a:t>spesifik</a:t>
            </a:r>
            <a:r>
              <a:rPr lang="en-ID" sz="2400" dirty="0">
                <a:latin typeface="Century" panose="02040604050505020304" pitchFamily="18" charset="0"/>
              </a:rPr>
              <a:t> turnover pada masing-masing department, </a:t>
            </a:r>
            <a:r>
              <a:rPr lang="en-ID" sz="2400" dirty="0" err="1">
                <a:latin typeface="Century" panose="02040604050505020304" pitchFamily="18" charset="0"/>
              </a:rPr>
              <a:t>seperti</a:t>
            </a:r>
            <a:r>
              <a:rPr lang="en-ID" sz="2400" dirty="0">
                <a:latin typeface="Century" panose="02040604050505020304" pitchFamily="18" charset="0"/>
              </a:rPr>
              <a:t> </a:t>
            </a:r>
            <a:r>
              <a:rPr lang="en-ID" sz="2400" dirty="0" err="1">
                <a:latin typeface="Century" panose="02040604050505020304" pitchFamily="18" charset="0"/>
              </a:rPr>
              <a:t>evaluasi</a:t>
            </a:r>
            <a:r>
              <a:rPr lang="en-ID" sz="2400" dirty="0">
                <a:latin typeface="Century" panose="02040604050505020304" pitchFamily="18" charset="0"/>
              </a:rPr>
              <a:t> </a:t>
            </a:r>
            <a:r>
              <a:rPr lang="en-ID" sz="2400" dirty="0" err="1">
                <a:latin typeface="Century" panose="02040604050505020304" pitchFamily="18" charset="0"/>
              </a:rPr>
              <a:t>beban</a:t>
            </a:r>
            <a:r>
              <a:rPr lang="en-ID" sz="2400" dirty="0">
                <a:latin typeface="Century" panose="02040604050505020304" pitchFamily="18" charset="0"/>
              </a:rPr>
              <a:t> </a:t>
            </a:r>
            <a:r>
              <a:rPr lang="en-ID" sz="2400" dirty="0" err="1">
                <a:latin typeface="Century" panose="02040604050505020304" pitchFamily="18" charset="0"/>
              </a:rPr>
              <a:t>kerja</a:t>
            </a:r>
            <a:r>
              <a:rPr lang="en-ID" sz="2400" dirty="0">
                <a:latin typeface="Century" panose="02040604050505020304" pitchFamily="18" charset="0"/>
              </a:rPr>
              <a:t> pada Production, </a:t>
            </a:r>
            <a:r>
              <a:rPr lang="en-ID" sz="2400" dirty="0" err="1">
                <a:latin typeface="Century" panose="02040604050505020304" pitchFamily="18" charset="0"/>
              </a:rPr>
              <a:t>peluang</a:t>
            </a:r>
            <a:r>
              <a:rPr lang="en-ID" sz="2400" dirty="0">
                <a:latin typeface="Century" panose="02040604050505020304" pitchFamily="18" charset="0"/>
              </a:rPr>
              <a:t> </a:t>
            </a:r>
            <a:r>
              <a:rPr lang="en-ID" sz="2400" dirty="0" err="1">
                <a:latin typeface="Century" panose="02040604050505020304" pitchFamily="18" charset="0"/>
              </a:rPr>
              <a:t>karir</a:t>
            </a:r>
            <a:r>
              <a:rPr lang="en-ID" sz="2400" dirty="0">
                <a:latin typeface="Century" panose="02040604050505020304" pitchFamily="18" charset="0"/>
              </a:rPr>
              <a:t> pada IT/IS, </a:t>
            </a:r>
            <a:r>
              <a:rPr lang="en-ID" sz="2400" dirty="0" err="1">
                <a:latin typeface="Century" panose="02040604050505020304" pitchFamily="18" charset="0"/>
              </a:rPr>
              <a:t>komisi</a:t>
            </a:r>
            <a:r>
              <a:rPr lang="en-ID" sz="2400" dirty="0">
                <a:latin typeface="Century" panose="02040604050505020304" pitchFamily="18" charset="0"/>
              </a:rPr>
              <a:t> dan bonus </a:t>
            </a:r>
            <a:r>
              <a:rPr lang="en-ID" sz="2400" dirty="0" err="1">
                <a:latin typeface="Century" panose="02040604050505020304" pitchFamily="18" charset="0"/>
              </a:rPr>
              <a:t>terhadap</a:t>
            </a:r>
            <a:r>
              <a:rPr lang="en-ID" sz="2400" dirty="0">
                <a:latin typeface="Century" panose="02040604050505020304" pitchFamily="18" charset="0"/>
              </a:rPr>
              <a:t> target pada Sales.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D" sz="2400" dirty="0" err="1">
                <a:latin typeface="Century" panose="02040604050505020304" pitchFamily="18" charset="0"/>
              </a:rPr>
              <a:t>Untuk</a:t>
            </a:r>
            <a:r>
              <a:rPr lang="en-ID" sz="2400" dirty="0">
                <a:latin typeface="Century" panose="02040604050505020304" pitchFamily="18" charset="0"/>
              </a:rPr>
              <a:t> </a:t>
            </a:r>
            <a:r>
              <a:rPr lang="en-ID" sz="2400" dirty="0" err="1">
                <a:latin typeface="Century" panose="02040604050505020304" pitchFamily="18" charset="0"/>
              </a:rPr>
              <a:t>karyawan</a:t>
            </a:r>
            <a:r>
              <a:rPr lang="en-ID" sz="2400" dirty="0">
                <a:latin typeface="Century" panose="02040604050505020304" pitchFamily="18" charset="0"/>
              </a:rPr>
              <a:t> Full-time </a:t>
            </a:r>
            <a:r>
              <a:rPr lang="en-ID" sz="2400" dirty="0" err="1">
                <a:latin typeface="Century" panose="02040604050505020304" pitchFamily="18" charset="0"/>
              </a:rPr>
              <a:t>perusahaan</a:t>
            </a:r>
            <a:r>
              <a:rPr lang="en-ID" sz="2400" dirty="0">
                <a:latin typeface="Century" panose="02040604050505020304" pitchFamily="18" charset="0"/>
              </a:rPr>
              <a:t> </a:t>
            </a:r>
            <a:r>
              <a:rPr lang="en-ID" sz="2400" dirty="0" err="1">
                <a:latin typeface="Century" panose="02040604050505020304" pitchFamily="18" charset="0"/>
              </a:rPr>
              <a:t>perlu</a:t>
            </a:r>
            <a:r>
              <a:rPr lang="en-ID" sz="2400" dirty="0">
                <a:latin typeface="Century" panose="02040604050505020304" pitchFamily="18" charset="0"/>
              </a:rPr>
              <a:t> </a:t>
            </a:r>
            <a:r>
              <a:rPr lang="en-ID" sz="2400" dirty="0" err="1">
                <a:latin typeface="Century" panose="02040604050505020304" pitchFamily="18" charset="0"/>
              </a:rPr>
              <a:t>memberikan</a:t>
            </a:r>
            <a:r>
              <a:rPr lang="en-ID" sz="2400" dirty="0">
                <a:latin typeface="Century" panose="02040604050505020304" pitchFamily="18" charset="0"/>
              </a:rPr>
              <a:t> </a:t>
            </a:r>
            <a:r>
              <a:rPr lang="en-ID" sz="2400" dirty="0" err="1">
                <a:latin typeface="Century" panose="02040604050505020304" pitchFamily="18" charset="0"/>
              </a:rPr>
              <a:t>jenjang</a:t>
            </a:r>
            <a:r>
              <a:rPr lang="en-ID" sz="2400" dirty="0">
                <a:latin typeface="Century" panose="02040604050505020304" pitchFamily="18" charset="0"/>
              </a:rPr>
              <a:t> </a:t>
            </a:r>
            <a:r>
              <a:rPr lang="en-ID" sz="2400" dirty="0" err="1">
                <a:latin typeface="Century" panose="02040604050505020304" pitchFamily="18" charset="0"/>
              </a:rPr>
              <a:t>karir</a:t>
            </a:r>
            <a:r>
              <a:rPr lang="en-ID" sz="2400" dirty="0">
                <a:latin typeface="Century" panose="02040604050505020304" pitchFamily="18" charset="0"/>
              </a:rPr>
              <a:t> dan </a:t>
            </a:r>
            <a:r>
              <a:rPr lang="en-ID" sz="2400" dirty="0" err="1">
                <a:latin typeface="Century" panose="02040604050505020304" pitchFamily="18" charset="0"/>
              </a:rPr>
              <a:t>promosi</a:t>
            </a:r>
            <a:r>
              <a:rPr lang="en-ID" sz="2400" dirty="0">
                <a:latin typeface="Century" panose="02040604050505020304" pitchFamily="18" charset="0"/>
              </a:rPr>
              <a:t> yang </a:t>
            </a:r>
            <a:r>
              <a:rPr lang="en-ID" sz="2400" dirty="0" err="1">
                <a:latin typeface="Century" panose="02040604050505020304" pitchFamily="18" charset="0"/>
              </a:rPr>
              <a:t>jelas</a:t>
            </a:r>
            <a:r>
              <a:rPr lang="en-ID" sz="2400" dirty="0">
                <a:latin typeface="Century" panose="02040604050505020304" pitchFamily="18" charset="0"/>
              </a:rPr>
              <a:t> dan juga </a:t>
            </a:r>
            <a:r>
              <a:rPr lang="en-ID" sz="2400" dirty="0" err="1">
                <a:latin typeface="Century" panose="02040604050505020304" pitchFamily="18" charset="0"/>
              </a:rPr>
              <a:t>untuk</a:t>
            </a:r>
            <a:r>
              <a:rPr lang="en-ID" sz="2400" dirty="0">
                <a:latin typeface="Century" panose="02040604050505020304" pitchFamily="18" charset="0"/>
              </a:rPr>
              <a:t> </a:t>
            </a:r>
            <a:r>
              <a:rPr lang="en-ID" sz="2400" dirty="0" err="1">
                <a:latin typeface="Century" panose="02040604050505020304" pitchFamily="18" charset="0"/>
              </a:rPr>
              <a:t>karyawan</a:t>
            </a:r>
            <a:r>
              <a:rPr lang="en-ID" sz="2400" dirty="0">
                <a:latin typeface="Century" panose="02040604050505020304" pitchFamily="18" charset="0"/>
              </a:rPr>
              <a:t> yang </a:t>
            </a:r>
            <a:r>
              <a:rPr lang="en-ID" sz="2400" dirty="0" err="1">
                <a:latin typeface="Century" panose="02040604050505020304" pitchFamily="18" charset="0"/>
              </a:rPr>
              <a:t>berstatus</a:t>
            </a:r>
            <a:r>
              <a:rPr lang="en-ID" sz="2400" dirty="0">
                <a:latin typeface="Century" panose="02040604050505020304" pitchFamily="18" charset="0"/>
              </a:rPr>
              <a:t> </a:t>
            </a:r>
            <a:r>
              <a:rPr lang="en-ID" sz="2400" dirty="0" err="1">
                <a:latin typeface="Century" panose="02040604050505020304" pitchFamily="18" charset="0"/>
              </a:rPr>
              <a:t>kontrak</a:t>
            </a:r>
            <a:r>
              <a:rPr lang="en-ID" sz="2400" dirty="0">
                <a:latin typeface="Century" panose="02040604050505020304" pitchFamily="18" charset="0"/>
              </a:rPr>
              <a:t> </a:t>
            </a:r>
            <a:r>
              <a:rPr lang="en-ID" sz="2400" dirty="0" err="1">
                <a:latin typeface="Century" panose="02040604050505020304" pitchFamily="18" charset="0"/>
              </a:rPr>
              <a:t>perusahaan</a:t>
            </a:r>
            <a:r>
              <a:rPr lang="en-ID" sz="2400" dirty="0">
                <a:latin typeface="Century" panose="02040604050505020304" pitchFamily="18" charset="0"/>
              </a:rPr>
              <a:t> </a:t>
            </a:r>
            <a:r>
              <a:rPr lang="en-ID" sz="2400" dirty="0" err="1">
                <a:latin typeface="Century" panose="02040604050505020304" pitchFamily="18" charset="0"/>
              </a:rPr>
              <a:t>perlu</a:t>
            </a:r>
            <a:r>
              <a:rPr lang="en-ID" sz="2400" dirty="0">
                <a:latin typeface="Century" panose="02040604050505020304" pitchFamily="18" charset="0"/>
              </a:rPr>
              <a:t> </a:t>
            </a:r>
            <a:r>
              <a:rPr lang="en-ID" sz="2400" dirty="0" err="1">
                <a:latin typeface="Century" panose="02040604050505020304" pitchFamily="18" charset="0"/>
              </a:rPr>
              <a:t>memberikan</a:t>
            </a:r>
            <a:r>
              <a:rPr lang="en-ID" sz="2400" dirty="0">
                <a:latin typeface="Century" panose="02040604050505020304" pitchFamily="18" charset="0"/>
              </a:rPr>
              <a:t> </a:t>
            </a:r>
            <a:r>
              <a:rPr lang="en-ID" sz="2400" dirty="0" err="1">
                <a:latin typeface="Century" panose="02040604050505020304" pitchFamily="18" charset="0"/>
              </a:rPr>
              <a:t>kejelasan</a:t>
            </a:r>
            <a:r>
              <a:rPr lang="en-ID" sz="2400" dirty="0">
                <a:latin typeface="Century" panose="02040604050505020304" pitchFamily="18" charset="0"/>
              </a:rPr>
              <a:t> </a:t>
            </a:r>
            <a:r>
              <a:rPr lang="en-ID" sz="2400" dirty="0" err="1">
                <a:latin typeface="Century" panose="02040604050505020304" pitchFamily="18" charset="0"/>
              </a:rPr>
              <a:t>mengenai</a:t>
            </a:r>
            <a:r>
              <a:rPr lang="en-ID" sz="2400" dirty="0">
                <a:latin typeface="Century" panose="02040604050505020304" pitchFamily="18" charset="0"/>
              </a:rPr>
              <a:t> masa </a:t>
            </a:r>
            <a:r>
              <a:rPr lang="en-ID" sz="2400" dirty="0" err="1">
                <a:latin typeface="Century" panose="02040604050505020304" pitchFamily="18" charset="0"/>
              </a:rPr>
              <a:t>kontrak</a:t>
            </a:r>
            <a:r>
              <a:rPr lang="en-ID" sz="2400" dirty="0">
                <a:latin typeface="Century" panose="02040604050505020304" pitchFamily="18" charset="0"/>
              </a:rPr>
              <a:t> dan </a:t>
            </a:r>
            <a:r>
              <a:rPr lang="en-ID" sz="2400" dirty="0" err="1">
                <a:latin typeface="Century" panose="02040604050505020304" pitchFamily="18" charset="0"/>
              </a:rPr>
              <a:t>peluang</a:t>
            </a:r>
            <a:r>
              <a:rPr lang="en-ID" sz="2400" dirty="0">
                <a:latin typeface="Century" panose="02040604050505020304" pitchFamily="18" charset="0"/>
              </a:rPr>
              <a:t> </a:t>
            </a:r>
            <a:r>
              <a:rPr lang="en-ID" sz="2400" dirty="0" err="1">
                <a:latin typeface="Century" panose="02040604050505020304" pitchFamily="18" charset="0"/>
              </a:rPr>
              <a:t>perpanjangan</a:t>
            </a:r>
            <a:r>
              <a:rPr lang="en-ID" sz="2400" dirty="0">
                <a:latin typeface="Century" panose="02040604050505020304" pitchFamily="18" charset="0"/>
              </a:rPr>
              <a:t>, dan juga jam </a:t>
            </a:r>
            <a:r>
              <a:rPr lang="en-ID" sz="2400" dirty="0" err="1">
                <a:latin typeface="Century" panose="02040604050505020304" pitchFamily="18" charset="0"/>
              </a:rPr>
              <a:t>kerja</a:t>
            </a:r>
            <a:r>
              <a:rPr lang="en-ID" sz="2400" dirty="0">
                <a:latin typeface="Century" panose="02040604050505020304" pitchFamily="18" charset="0"/>
              </a:rPr>
              <a:t> yang </a:t>
            </a:r>
            <a:r>
              <a:rPr lang="en-ID" sz="2400" dirty="0" err="1">
                <a:latin typeface="Century" panose="02040604050505020304" pitchFamily="18" charset="0"/>
              </a:rPr>
              <a:t>jelas</a:t>
            </a:r>
            <a:r>
              <a:rPr lang="en-ID" sz="2400" dirty="0">
                <a:latin typeface="Century" panose="02040604050505020304" pitchFamily="18" charset="0"/>
              </a:rPr>
              <a:t> </a:t>
            </a:r>
            <a:r>
              <a:rPr lang="en-ID" sz="2400" dirty="0" err="1">
                <a:latin typeface="Century" panose="02040604050505020304" pitchFamily="18" charset="0"/>
              </a:rPr>
              <a:t>untuk</a:t>
            </a:r>
            <a:r>
              <a:rPr lang="en-ID" sz="2400" dirty="0">
                <a:latin typeface="Century" panose="02040604050505020304" pitchFamily="18" charset="0"/>
              </a:rPr>
              <a:t> </a:t>
            </a:r>
            <a:r>
              <a:rPr lang="en-ID" sz="2400" dirty="0" err="1">
                <a:latin typeface="Century" panose="02040604050505020304" pitchFamily="18" charset="0"/>
              </a:rPr>
              <a:t>karyawan</a:t>
            </a:r>
            <a:r>
              <a:rPr lang="en-ID" sz="2400" dirty="0">
                <a:latin typeface="Century" panose="02040604050505020304" pitchFamily="18" charset="0"/>
              </a:rPr>
              <a:t> yang </a:t>
            </a:r>
            <a:r>
              <a:rPr lang="en-ID" sz="2400" dirty="0" err="1">
                <a:latin typeface="Century" panose="02040604050505020304" pitchFamily="18" charset="0"/>
              </a:rPr>
              <a:t>ber</a:t>
            </a:r>
            <a:r>
              <a:rPr lang="en-ID" sz="2400" dirty="0">
                <a:latin typeface="Century" panose="02040604050505020304" pitchFamily="18" charset="0"/>
              </a:rPr>
              <a:t> status Part-time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 err="1">
                <a:latin typeface="Century" panose="02040604050505020304" pitchFamily="18" charset="0"/>
              </a:rPr>
              <a:t>Melalui</a:t>
            </a:r>
            <a:r>
              <a:rPr lang="en-US" sz="2400" dirty="0">
                <a:latin typeface="Century" panose="02040604050505020304" pitchFamily="18" charset="0"/>
              </a:rPr>
              <a:t> coaching, dan </a:t>
            </a:r>
            <a:r>
              <a:rPr lang="en-US" sz="2400" dirty="0" err="1">
                <a:latin typeface="Century" panose="02040604050505020304" pitchFamily="18" charset="0"/>
              </a:rPr>
              <a:t>tinjauan</a:t>
            </a:r>
            <a:r>
              <a:rPr lang="en-US" sz="2400" dirty="0">
                <a:latin typeface="Century" panose="02040604050505020304" pitchFamily="18" charset="0"/>
              </a:rPr>
              <a:t> </a:t>
            </a:r>
            <a:r>
              <a:rPr lang="en-US" sz="2400" dirty="0" err="1">
                <a:latin typeface="Century" panose="02040604050505020304" pitchFamily="18" charset="0"/>
              </a:rPr>
              <a:t>terhadap</a:t>
            </a:r>
            <a:r>
              <a:rPr lang="en-US" sz="2400" dirty="0">
                <a:latin typeface="Century" panose="02040604050505020304" pitchFamily="18" charset="0"/>
              </a:rPr>
              <a:t> </a:t>
            </a:r>
            <a:r>
              <a:rPr lang="en-US" sz="2400" dirty="0" err="1">
                <a:latin typeface="Century" panose="02040604050505020304" pitchFamily="18" charset="0"/>
              </a:rPr>
              <a:t>kinerja</a:t>
            </a:r>
            <a:r>
              <a:rPr lang="en-US" sz="2400" dirty="0">
                <a:latin typeface="Century" panose="02040604050505020304" pitchFamily="18" charset="0"/>
              </a:rPr>
              <a:t> pada </a:t>
            </a:r>
            <a:r>
              <a:rPr lang="en-US" sz="2400" dirty="0" err="1">
                <a:latin typeface="Century" panose="02040604050505020304" pitchFamily="18" charset="0"/>
              </a:rPr>
              <a:t>setiap</a:t>
            </a:r>
            <a:r>
              <a:rPr lang="en-US" sz="2400" dirty="0">
                <a:latin typeface="Century" panose="02040604050505020304" pitchFamily="18" charset="0"/>
              </a:rPr>
              <a:t> </a:t>
            </a:r>
            <a:r>
              <a:rPr lang="en-US" sz="2400" dirty="0" err="1">
                <a:latin typeface="Century" panose="02040604050505020304" pitchFamily="18" charset="0"/>
              </a:rPr>
              <a:t>karyawan</a:t>
            </a:r>
            <a:r>
              <a:rPr lang="en-US" sz="2400" dirty="0">
                <a:latin typeface="Century" panose="02040604050505020304" pitchFamily="18" charset="0"/>
              </a:rPr>
              <a:t>, </a:t>
            </a:r>
            <a:r>
              <a:rPr lang="en-US" sz="2400" dirty="0" err="1">
                <a:latin typeface="Century" panose="02040604050505020304" pitchFamily="18" charset="0"/>
              </a:rPr>
              <a:t>perusahaan</a:t>
            </a:r>
            <a:r>
              <a:rPr lang="en-US" sz="2400" dirty="0">
                <a:latin typeface="Century" panose="02040604050505020304" pitchFamily="18" charset="0"/>
              </a:rPr>
              <a:t> </a:t>
            </a:r>
            <a:r>
              <a:rPr lang="en-US" sz="2400" dirty="0" err="1">
                <a:latin typeface="Century" panose="02040604050505020304" pitchFamily="18" charset="0"/>
              </a:rPr>
              <a:t>dapat</a:t>
            </a:r>
            <a:r>
              <a:rPr lang="en-US" sz="2400" dirty="0">
                <a:latin typeface="Century" panose="02040604050505020304" pitchFamily="18" charset="0"/>
              </a:rPr>
              <a:t> </a:t>
            </a:r>
            <a:r>
              <a:rPr lang="en-US" sz="2400" dirty="0" err="1">
                <a:latin typeface="Century" panose="02040604050505020304" pitchFamily="18" charset="0"/>
              </a:rPr>
              <a:t>meningkatkan</a:t>
            </a:r>
            <a:r>
              <a:rPr lang="en-US" sz="2400" dirty="0">
                <a:latin typeface="Century" panose="02040604050505020304" pitchFamily="18" charset="0"/>
              </a:rPr>
              <a:t> </a:t>
            </a:r>
            <a:r>
              <a:rPr lang="en-US" sz="2400" dirty="0" err="1">
                <a:latin typeface="Century" panose="02040604050505020304" pitchFamily="18" charset="0"/>
              </a:rPr>
              <a:t>kualitas</a:t>
            </a:r>
            <a:r>
              <a:rPr lang="en-US" sz="2400" dirty="0">
                <a:latin typeface="Century" panose="02040604050505020304" pitchFamily="18" charset="0"/>
              </a:rPr>
              <a:t> </a:t>
            </a:r>
            <a:r>
              <a:rPr lang="en-US" sz="2400" dirty="0" err="1">
                <a:latin typeface="Century" panose="02040604050505020304" pitchFamily="18" charset="0"/>
              </a:rPr>
              <a:t>sumber</a:t>
            </a:r>
            <a:r>
              <a:rPr lang="en-US" sz="2400" dirty="0">
                <a:latin typeface="Century" panose="02040604050505020304" pitchFamily="18" charset="0"/>
              </a:rPr>
              <a:t> </a:t>
            </a:r>
            <a:r>
              <a:rPr lang="en-US" sz="2400" dirty="0" err="1">
                <a:latin typeface="Century" panose="02040604050505020304" pitchFamily="18" charset="0"/>
              </a:rPr>
              <a:t>daya</a:t>
            </a:r>
            <a:r>
              <a:rPr lang="en-US" sz="2400" dirty="0">
                <a:latin typeface="Century" panose="02040604050505020304" pitchFamily="18" charset="0"/>
              </a:rPr>
              <a:t> </a:t>
            </a:r>
            <a:r>
              <a:rPr lang="en-US" sz="2400" dirty="0" err="1">
                <a:latin typeface="Century" panose="02040604050505020304" pitchFamily="18" charset="0"/>
              </a:rPr>
              <a:t>manusia</a:t>
            </a:r>
            <a:r>
              <a:rPr lang="en-US" sz="2400" dirty="0">
                <a:latin typeface="Century" panose="02040604050505020304" pitchFamily="18" charset="0"/>
              </a:rPr>
              <a:t> </a:t>
            </a:r>
            <a:r>
              <a:rPr lang="en-US" sz="2400" dirty="0" err="1">
                <a:latin typeface="Century" panose="02040604050505020304" pitchFamily="18" charset="0"/>
              </a:rPr>
              <a:t>mereka</a:t>
            </a:r>
            <a:r>
              <a:rPr lang="en-US" sz="2400" dirty="0">
                <a:latin typeface="Century" panose="02040604050505020304" pitchFamily="18" charset="0"/>
              </a:rPr>
              <a:t>. </a:t>
            </a:r>
            <a:r>
              <a:rPr lang="en-US" sz="2400" dirty="0" err="1">
                <a:latin typeface="Century" panose="02040604050505020304" pitchFamily="18" charset="0"/>
              </a:rPr>
              <a:t>Untuk</a:t>
            </a:r>
            <a:r>
              <a:rPr lang="en-US" sz="2400" dirty="0">
                <a:latin typeface="Century" panose="02040604050505020304" pitchFamily="18" charset="0"/>
              </a:rPr>
              <a:t> </a:t>
            </a:r>
            <a:r>
              <a:rPr lang="en-US" sz="2400" dirty="0" err="1">
                <a:latin typeface="Century" panose="02040604050505020304" pitchFamily="18" charset="0"/>
              </a:rPr>
              <a:t>mencegah</a:t>
            </a:r>
            <a:r>
              <a:rPr lang="en-US" sz="2400" dirty="0">
                <a:latin typeface="Century" panose="02040604050505020304" pitchFamily="18" charset="0"/>
              </a:rPr>
              <a:t> </a:t>
            </a:r>
            <a:r>
              <a:rPr lang="en-US" sz="2400" dirty="0" err="1">
                <a:latin typeface="Century" panose="02040604050505020304" pitchFamily="18" charset="0"/>
              </a:rPr>
              <a:t>perusahaan</a:t>
            </a:r>
            <a:r>
              <a:rPr lang="en-US" sz="2400" dirty="0">
                <a:latin typeface="Century" panose="02040604050505020304" pitchFamily="18" charset="0"/>
              </a:rPr>
              <a:t> </a:t>
            </a:r>
            <a:r>
              <a:rPr lang="en-US" sz="2400" dirty="0" err="1">
                <a:latin typeface="Century" panose="02040604050505020304" pitchFamily="18" charset="0"/>
              </a:rPr>
              <a:t>kehilangan</a:t>
            </a:r>
            <a:r>
              <a:rPr lang="en-US" sz="2400" dirty="0">
                <a:latin typeface="Century" panose="02040604050505020304" pitchFamily="18" charset="0"/>
              </a:rPr>
              <a:t> </a:t>
            </a:r>
            <a:r>
              <a:rPr lang="en-US" sz="2400" dirty="0" err="1">
                <a:latin typeface="Century" panose="02040604050505020304" pitchFamily="18" charset="0"/>
              </a:rPr>
              <a:t>karyawan</a:t>
            </a:r>
            <a:r>
              <a:rPr lang="en-US" sz="2400" dirty="0">
                <a:latin typeface="Century" panose="02040604050505020304" pitchFamily="18" charset="0"/>
              </a:rPr>
              <a:t> yang sangat </a:t>
            </a:r>
            <a:r>
              <a:rPr lang="en-US" sz="2400" dirty="0" err="1">
                <a:latin typeface="Century" panose="02040604050505020304" pitchFamily="18" charset="0"/>
              </a:rPr>
              <a:t>terampil</a:t>
            </a:r>
            <a:r>
              <a:rPr lang="en-US" sz="2400" dirty="0">
                <a:latin typeface="Century" panose="02040604050505020304" pitchFamily="18" charset="0"/>
              </a:rPr>
              <a:t>, </a:t>
            </a:r>
            <a:r>
              <a:rPr lang="en-US" sz="2400" dirty="0" err="1">
                <a:latin typeface="Century" panose="02040604050505020304" pitchFamily="18" charset="0"/>
              </a:rPr>
              <a:t>karyawan</a:t>
            </a:r>
            <a:r>
              <a:rPr lang="en-US" sz="2400" dirty="0">
                <a:latin typeface="Century" panose="02040604050505020304" pitchFamily="18" charset="0"/>
              </a:rPr>
              <a:t> </a:t>
            </a:r>
            <a:r>
              <a:rPr lang="en-US" sz="2400" dirty="0" err="1">
                <a:latin typeface="Century" panose="02040604050505020304" pitchFamily="18" charset="0"/>
              </a:rPr>
              <a:t>berkualitas</a:t>
            </a:r>
            <a:r>
              <a:rPr lang="en-US" sz="2400" dirty="0">
                <a:latin typeface="Century" panose="02040604050505020304" pitchFamily="18" charset="0"/>
              </a:rPr>
              <a:t> </a:t>
            </a:r>
            <a:r>
              <a:rPr lang="en-US" sz="2400" dirty="0" err="1">
                <a:latin typeface="Century" panose="02040604050505020304" pitchFamily="18" charset="0"/>
              </a:rPr>
              <a:t>perlu</a:t>
            </a:r>
            <a:r>
              <a:rPr lang="en-US" sz="2400" dirty="0">
                <a:latin typeface="Century" panose="02040604050505020304" pitchFamily="18" charset="0"/>
              </a:rPr>
              <a:t> </a:t>
            </a:r>
            <a:r>
              <a:rPr lang="en-US" sz="2400" dirty="0" err="1">
                <a:latin typeface="Century" panose="02040604050505020304" pitchFamily="18" charset="0"/>
              </a:rPr>
              <a:t>dipertahankan</a:t>
            </a:r>
            <a:r>
              <a:rPr lang="en-US" sz="2400" dirty="0">
                <a:latin typeface="Century" panose="02040604050505020304" pitchFamily="18" charset="0"/>
              </a:rPr>
              <a:t> </a:t>
            </a:r>
            <a:r>
              <a:rPr lang="en-US" sz="2400" dirty="0" err="1">
                <a:latin typeface="Century" panose="02040604050505020304" pitchFamily="18" charset="0"/>
              </a:rPr>
              <a:t>melalui</a:t>
            </a:r>
            <a:r>
              <a:rPr lang="en-US" sz="2400" dirty="0">
                <a:latin typeface="Century" panose="02040604050505020304" pitchFamily="18" charset="0"/>
              </a:rPr>
              <a:t> </a:t>
            </a:r>
            <a:r>
              <a:rPr lang="en-US" sz="2400" dirty="0" err="1">
                <a:latin typeface="Century" panose="02040604050505020304" pitchFamily="18" charset="0"/>
              </a:rPr>
              <a:t>pemberian</a:t>
            </a:r>
            <a:r>
              <a:rPr lang="en-US" sz="2400" dirty="0">
                <a:latin typeface="Century" panose="02040604050505020304" pitchFamily="18" charset="0"/>
              </a:rPr>
              <a:t> </a:t>
            </a:r>
            <a:r>
              <a:rPr lang="en-US" sz="2400" dirty="0" err="1">
                <a:latin typeface="Century" panose="02040604050505020304" pitchFamily="18" charset="0"/>
              </a:rPr>
              <a:t>insentif</a:t>
            </a:r>
            <a:r>
              <a:rPr lang="en-US" sz="2400" dirty="0">
                <a:latin typeface="Century" panose="02040604050505020304" pitchFamily="18" charset="0"/>
              </a:rPr>
              <a:t>, </a:t>
            </a:r>
            <a:r>
              <a:rPr lang="en-US" sz="2400" dirty="0" err="1">
                <a:latin typeface="Century" panose="02040604050505020304" pitchFamily="18" charset="0"/>
              </a:rPr>
              <a:t>pengakuan</a:t>
            </a:r>
            <a:r>
              <a:rPr lang="en-US" sz="2400" dirty="0">
                <a:latin typeface="Century" panose="02040604050505020304" pitchFamily="18" charset="0"/>
              </a:rPr>
              <a:t>, </a:t>
            </a:r>
            <a:r>
              <a:rPr lang="en-US" sz="2400" dirty="0" err="1">
                <a:latin typeface="Century" panose="02040604050505020304" pitchFamily="18" charset="0"/>
              </a:rPr>
              <a:t>jenjang</a:t>
            </a:r>
            <a:r>
              <a:rPr lang="en-US" sz="2400" dirty="0">
                <a:latin typeface="Century" panose="02040604050505020304" pitchFamily="18" charset="0"/>
              </a:rPr>
              <a:t> </a:t>
            </a:r>
            <a:r>
              <a:rPr lang="en-US" sz="2400" dirty="0" err="1">
                <a:latin typeface="Century" panose="02040604050505020304" pitchFamily="18" charset="0"/>
              </a:rPr>
              <a:t>karir</a:t>
            </a:r>
            <a:r>
              <a:rPr lang="en-US" sz="2400" dirty="0">
                <a:latin typeface="Century" panose="02040604050505020304" pitchFamily="18" charset="0"/>
              </a:rPr>
              <a:t>, dan program </a:t>
            </a:r>
            <a:r>
              <a:rPr lang="en-US" sz="2400" dirty="0" err="1">
                <a:latin typeface="Century" panose="02040604050505020304" pitchFamily="18" charset="0"/>
              </a:rPr>
              <a:t>pengembangan</a:t>
            </a:r>
            <a:r>
              <a:rPr lang="en-US" sz="2400" dirty="0">
                <a:latin typeface="Century" panose="02040604050505020304" pitchFamily="18" charset="0"/>
              </a:rPr>
              <a:t> </a:t>
            </a:r>
            <a:r>
              <a:rPr lang="en-US" sz="2400" dirty="0" err="1">
                <a:latin typeface="Century" panose="02040604050505020304" pitchFamily="18" charset="0"/>
              </a:rPr>
              <a:t>diri</a:t>
            </a:r>
            <a:r>
              <a:rPr lang="en-US" sz="2400" dirty="0">
                <a:latin typeface="Century" panose="020406040505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6308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196;p30">
            <a:extLst>
              <a:ext uri="{FF2B5EF4-FFF2-40B4-BE49-F238E27FC236}">
                <a16:creationId xmlns:a16="http://schemas.microsoft.com/office/drawing/2014/main" id="{21C66B88-9353-D542-3591-34BC1CC82415}"/>
              </a:ext>
            </a:extLst>
          </p:cNvPr>
          <p:cNvSpPr txBox="1">
            <a:spLocks/>
          </p:cNvSpPr>
          <p:nvPr/>
        </p:nvSpPr>
        <p:spPr>
          <a:xfrm>
            <a:off x="654086" y="2806939"/>
            <a:ext cx="4805996" cy="1297115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80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0032646C-0717-125C-99AF-F2FB320316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26302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930</TotalTime>
  <Words>801</Words>
  <Application>Microsoft Macintosh PowerPoint</Application>
  <PresentationFormat>Widescreen</PresentationFormat>
  <Paragraphs>61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Anaheim</vt:lpstr>
      <vt:lpstr>Space Mono</vt:lpstr>
      <vt:lpstr>Aptos</vt:lpstr>
      <vt:lpstr>Aptos Display</vt:lpstr>
      <vt:lpstr>Arial</vt:lpstr>
      <vt:lpstr>Century</vt:lpstr>
      <vt:lpstr>Impact</vt:lpstr>
      <vt:lpstr>Nunito Light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Turnover tinggi,  Perusahaan OVER?</vt:lpstr>
      <vt:lpstr>Table of contents</vt:lpstr>
      <vt:lpstr>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Rebornaizer</dc:creator>
  <cp:lastModifiedBy>Rebornaizer</cp:lastModifiedBy>
  <cp:revision>16</cp:revision>
  <dcterms:created xsi:type="dcterms:W3CDTF">2026-08-12T05:31:21Z</dcterms:created>
  <dcterms:modified xsi:type="dcterms:W3CDTF">2026-08-18T05:01:35Z</dcterms:modified>
</cp:coreProperties>
</file>